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82" r:id="rId5"/>
    <p:sldId id="277" r:id="rId6"/>
    <p:sldId id="278" r:id="rId7"/>
    <p:sldId id="279" r:id="rId8"/>
    <p:sldId id="280" r:id="rId9"/>
    <p:sldId id="259" r:id="rId10"/>
    <p:sldId id="260" r:id="rId11"/>
    <p:sldId id="273" r:id="rId12"/>
    <p:sldId id="262" r:id="rId13"/>
    <p:sldId id="283" r:id="rId14"/>
    <p:sldId id="271" r:id="rId15"/>
    <p:sldId id="263" r:id="rId16"/>
    <p:sldId id="272" r:id="rId17"/>
    <p:sldId id="264" r:id="rId18"/>
    <p:sldId id="281" r:id="rId19"/>
    <p:sldId id="267" r:id="rId20"/>
  </p:sldIdLst>
  <p:sldSz cx="9144000" cy="5143500" type="screen16x9"/>
  <p:notesSz cx="6858000" cy="9144000"/>
  <p:embeddedFontLst>
    <p:embeddedFont>
      <p:font typeface="DM Sans" pitchFamily="2" charset="0"/>
      <p:regular r:id="rId22"/>
      <p:bold r:id="rId23"/>
      <p:italic r:id="rId24"/>
      <p:boldItalic r:id="rId25"/>
    </p:embeddedFont>
    <p:embeddedFont>
      <p:font typeface="Helvetica Neue" panose="020B0604020202020204" charset="0"/>
      <p:regular r:id="rId26"/>
      <p:bold r:id="rId27"/>
      <p:italic r:id="rId28"/>
      <p:boldItalic r:id="rId29"/>
    </p:embeddedFont>
    <p:embeddedFont>
      <p:font typeface="Merriweather" panose="00000500000000000000" pitchFamily="2" charset="0"/>
      <p:regular r:id="rId30"/>
      <p:bold r:id="rId31"/>
      <p:italic r:id="rId32"/>
      <p:boldItalic r:id="rId33"/>
    </p:embeddedFont>
    <p:embeddedFont>
      <p:font typeface="Montserrat" panose="00000500000000000000" pitchFamily="2" charset="0"/>
      <p:regular r:id="rId34"/>
      <p:bold r:id="rId35"/>
      <p:italic r:id="rId36"/>
      <p:boldItalic r:id="rId37"/>
    </p:embeddedFont>
    <p:embeddedFont>
      <p:font typeface="Montserrat Medium" panose="00000600000000000000" pitchFamily="2" charset="0"/>
      <p:regular r:id="rId38"/>
      <p:bold r:id="rId39"/>
      <p:italic r:id="rId40"/>
      <p:boldItalic r:id="rId41"/>
    </p:embeddedFont>
    <p:embeddedFont>
      <p:font typeface="Montserrat SemiBold" panose="00000700000000000000" pitchFamily="2" charset="0"/>
      <p:regular r:id="rId42"/>
      <p:bold r:id="rId43"/>
      <p:italic r:id="rId44"/>
      <p:boldItalic r:id="rId45"/>
    </p:embeddedFont>
    <p:embeddedFont>
      <p:font typeface="Poppins" panose="00000500000000000000" pitchFamily="2" charset="0"/>
      <p:regular r:id="rId46"/>
      <p:bold r:id="rId47"/>
      <p:italic r:id="rId48"/>
      <p:boldItalic r:id="rId49"/>
    </p:embeddedFont>
    <p:embeddedFont>
      <p:font typeface="Poppins SemiBold" panose="00000700000000000000" pitchFamily="2" charset="0"/>
      <p:bold r:id="rId50"/>
      <p:boldItalic r:id="rId51"/>
    </p:embeddedFont>
    <p:embeddedFont>
      <p:font typeface="Times" panose="02020603050405020304" pitchFamily="18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>
        <p:scale>
          <a:sx n="75" d="100"/>
          <a:sy n="75" d="100"/>
        </p:scale>
        <p:origin x="1176" y="2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font" Target="fonts/font21.fntdata"/><Relationship Id="rId47" Type="http://schemas.openxmlformats.org/officeDocument/2006/relationships/font" Target="fonts/font26.fntdata"/><Relationship Id="rId50" Type="http://schemas.openxmlformats.org/officeDocument/2006/relationships/font" Target="fonts/font29.fntdata"/><Relationship Id="rId55" Type="http://schemas.openxmlformats.org/officeDocument/2006/relationships/font" Target="fonts/font3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8.fntdata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openxmlformats.org/officeDocument/2006/relationships/font" Target="fonts/font24.fntdata"/><Relationship Id="rId53" Type="http://schemas.openxmlformats.org/officeDocument/2006/relationships/font" Target="fonts/font3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font" Target="fonts/font22.fntdata"/><Relationship Id="rId48" Type="http://schemas.openxmlformats.org/officeDocument/2006/relationships/font" Target="fonts/font2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3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46" Type="http://schemas.openxmlformats.org/officeDocument/2006/relationships/font" Target="fonts/font25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20.fntdata"/><Relationship Id="rId54" Type="http://schemas.openxmlformats.org/officeDocument/2006/relationships/font" Target="fonts/font3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49" Type="http://schemas.openxmlformats.org/officeDocument/2006/relationships/font" Target="fonts/font2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font" Target="fonts/font10.fntdata"/><Relationship Id="rId44" Type="http://schemas.openxmlformats.org/officeDocument/2006/relationships/font" Target="fonts/font23.fntdata"/><Relationship Id="rId52" Type="http://schemas.openxmlformats.org/officeDocument/2006/relationships/font" Target="fonts/font3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26d2ae60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26d2ae60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26d2ae60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26d2ae60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E37864AD-0785-7681-1043-209C7F9E1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813CE577-5B01-D2EC-78EC-CFF1DDCFA5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8B12B29D-5C03-CDF5-D5C9-B105BD9BB3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7265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32fe4288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32fe4288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32fe42882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32fe42882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DA410234-190F-3A42-0E4F-85156B348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32fe42882_0_68:notes">
            <a:extLst>
              <a:ext uri="{FF2B5EF4-FFF2-40B4-BE49-F238E27FC236}">
                <a16:creationId xmlns:a16="http://schemas.microsoft.com/office/drawing/2014/main" id="{1E976CF2-1880-1EF6-E177-39EB915470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32fe42882_0_68:notes">
            <a:extLst>
              <a:ext uri="{FF2B5EF4-FFF2-40B4-BE49-F238E27FC236}">
                <a16:creationId xmlns:a16="http://schemas.microsoft.com/office/drawing/2014/main" id="{1AF6C6BF-8CB2-9839-FCDE-B2AAB66C65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97658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32fe42882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32fe42882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>
          <a:extLst>
            <a:ext uri="{FF2B5EF4-FFF2-40B4-BE49-F238E27FC236}">
              <a16:creationId xmlns:a16="http://schemas.microsoft.com/office/drawing/2014/main" id="{8069DA83-DD98-81BE-123D-8D389709A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32fe42882_0_271:notes">
            <a:extLst>
              <a:ext uri="{FF2B5EF4-FFF2-40B4-BE49-F238E27FC236}">
                <a16:creationId xmlns:a16="http://schemas.microsoft.com/office/drawing/2014/main" id="{DFAB3FF3-F713-A38A-168D-55D59EDB3F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f32fe42882_0_271:notes">
            <a:extLst>
              <a:ext uri="{FF2B5EF4-FFF2-40B4-BE49-F238E27FC236}">
                <a16:creationId xmlns:a16="http://schemas.microsoft.com/office/drawing/2014/main" id="{707C04D1-61FC-012A-B851-224194E815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82182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32fe42882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32fe42882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32fe42882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f32fe42882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26d2ae60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f26d2ae60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1.xml.rels><?xml version="1.0" encoding="UTF-8" standalone="yes"?>
<Relationships xmlns="http://schemas.openxmlformats.org/package/2006/relationships"><Relationship Id="rId8" Type="http://schemas.openxmlformats.org/officeDocument/2006/relationships/hyperlink" Target="https://www.youtube.com/watch?v=4_xOC5cmuVc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youtube.com/watch?v=JZry_EFgqz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youtube.com/watch?v=IGy3NBR1XqM" TargetMode="External"/><Relationship Id="rId11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hyperlink" Target="https://www.youtube.com/watch?v=SfuXCj8jqmk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www.youtube.com/watch?v=K5EkttOpr3s" TargetMode="External"/></Relationships>
</file>

<file path=ppt/slides/_rels/slide12.xml.rels><?xml version="1.0" encoding="UTF-8" standalone="yes"?>
<Relationships xmlns="http://schemas.openxmlformats.org/package/2006/relationships"><Relationship Id="rId8" Type="http://schemas.openxmlformats.org/officeDocument/2006/relationships/hyperlink" Target="https://www.youtube.com/watch?v=JFoXttlALZw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www.youtube.com/watch?v=kkwe8zVecM0" TargetMode="External"/><Relationship Id="rId11" Type="http://schemas.openxmlformats.org/officeDocument/2006/relationships/hyperlink" Target="https://www.youtube.com/watch?v=1KGtxMcCD4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youtube.com/watch?v=MVUDXVNaQ58" TargetMode="External"/><Relationship Id="rId5" Type="http://schemas.openxmlformats.org/officeDocument/2006/relationships/hyperlink" Target="https://www.youtube.com/watch?v=RrEf5NsMlTI" TargetMode="External"/><Relationship Id="rId10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hyperlink" Target="https://www.youtube.com/watch?v=qCZHNbf7z5g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www.youtube.com/watch?v=k5snckO_l0I" TargetMode="External"/><Relationship Id="rId8" Type="http://schemas.openxmlformats.org/officeDocument/2006/relationships/hyperlink" Target="https://www.youtube.com/watch?v=pbmRmo73DFA" TargetMode="External"/><Relationship Id="rId9" Type="http://schemas.openxmlformats.org/officeDocument/2006/relationships/hyperlink" Target="https://www.youtube.com/watch?v=muzzSuYj64M" TargetMode="External"/><Relationship Id="rId10" Type="http://schemas.openxmlformats.org/officeDocument/2006/relationships/hyperlink" Target="https://www.youtube.com/watch?v=Eo-FPrDONqY" TargetMode="External"/><Relationship Id="rId11" Type="http://schemas.openxmlformats.org/officeDocument/2006/relationships/hyperlink" Target="https://www.youtube.com/watch?v=jFUPLsPctlc" TargetMode="External"/><Relationship Id="rId12" Type="http://schemas.openxmlformats.org/officeDocument/2006/relationships/hyperlink" Target="https://www.youtube.com/watch?v=uMkt8UaOOOg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hyperlink" Target="https://www.youtube.com/watch?v=kkwe8zVecM0" TargetMode="External"/><Relationship Id="rId4" Type="http://schemas.openxmlformats.org/officeDocument/2006/relationships/image" Target="../media/image22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hyperlink" Target="https://www.youtube.com/watch?v=qCZHNbf7z5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hyperlink" Target="https://www.youtube.com/watch?v=n2x43tA-hzI" TargetMode="External"/><Relationship Id="rId4" Type="http://schemas.openxmlformats.org/officeDocument/2006/relationships/hyperlink" Target="https://www.youtube.com/watch?v=iosd0jUKcvU" TargetMode="External"/></Relationships>
</file>

<file path=ppt/slides/_rels/slide15.xml.rels><?xml version="1.0" encoding="UTF-8" standalone="yes"?>
<Relationships xmlns="http://schemas.openxmlformats.org/package/2006/relationships"><Relationship Id="rId8" Type="http://schemas.openxmlformats.org/officeDocument/2006/relationships/hyperlink" Target="https://www.youtube.com/watch?v=xNEUlMQRBjo" TargetMode="External"/><Relationship Id="rId12" Type="http://schemas.openxmlformats.org/officeDocument/2006/relationships/hyperlink" Target="https://www.youtube.com/watch?v=rIic3PuQHAU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youtube.com/watch?v=s1Xj1UDR6a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youtube.com/watch?v=mmfz73EW60w" TargetMode="External"/><Relationship Id="rId11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hyperlink" Target="https://www.youtube.com/watch?v=ZSoVm6Q-sbc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www.youtube.com/watch?v=Z1Yj0hct1nA" TargetMode="External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8" Type="http://schemas.openxmlformats.org/officeDocument/2006/relationships/hyperlink" Target="https://www.youtube.com/watch?v=R1UHzF_9n4A" TargetMode="External"/><Relationship Id="rId9" Type="http://schemas.openxmlformats.org/officeDocument/2006/relationships/hyperlink" Target="https://www.youtube.com/watch?v=7i8-R1qEOzQ" TargetMode="External"/><Relationship Id="rId10" Type="http://schemas.openxmlformats.org/officeDocument/2006/relationships/hyperlink" Target="https://www.youtube.com/watch?v=kgInSDPkWSM" TargetMode="External"/><Relationship Id="rId11" Type="http://schemas.openxmlformats.org/officeDocument/2006/relationships/hyperlink" Target="https://www.youtube.com/watch?v=n4GNdIqOYFc" TargetMode="External"/><Relationship Id="rId7" Type="http://schemas.openxmlformats.org/officeDocument/2006/relationships/hyperlink" Target="https://www.youtube.com/watch?v=LDfY9qH1g9c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hyperlink" Target="https://www.youtube.com/watch?v=jjSaUeqJi4s" TargetMode="Externa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K5EkttOpr3s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youtube.com/watch?v=qth5wFHKDV8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youtube.com/watch?v=D2b-b-gQyzg" TargetMode="External"/><Relationship Id="rId11" Type="http://schemas.openxmlformats.org/officeDocument/2006/relationships/hyperlink" Target="https://www.youtube.com/watch?v=liiMB8iISJQ" TargetMode="External"/><Relationship Id="rId5" Type="http://schemas.openxmlformats.org/officeDocument/2006/relationships/image" Target="../media/image22.png"/><Relationship Id="rId10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hyperlink" Target="https://www.youtube.com/watch?v=g9fwgx54dEo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ecurso 7@300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1675" y="2310556"/>
            <a:ext cx="3860651" cy="5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708200" y="4361625"/>
            <a:ext cx="572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BOGOTÁ	MÉXICO		BUENOS AIRES		MIAMI		CHILE		QUITO</a:t>
            </a:r>
            <a:endParaRPr sz="9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66;p17" descr="image.png">
            <a:extLst>
              <a:ext uri="{FF2B5EF4-FFF2-40B4-BE49-F238E27FC236}">
                <a16:creationId xmlns:a16="http://schemas.microsoft.com/office/drawing/2014/main" id="{54319903-613F-200E-6E5C-8C1DF87D92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/>
          <p:nvPr/>
        </p:nvSpPr>
        <p:spPr>
          <a:xfrm>
            <a:off x="1857188" y="1602638"/>
            <a:ext cx="2243400" cy="5097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784816" y="1502213"/>
            <a:ext cx="5091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lang="es-419" sz="39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 CREATE</a:t>
            </a:r>
            <a:endParaRPr sz="39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1883888" y="2316938"/>
            <a:ext cx="1571700" cy="5097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784818" y="2202301"/>
            <a:ext cx="3897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lang="es-419" sz="39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 PLAN</a:t>
            </a:r>
            <a:endParaRPr sz="39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1883889" y="3031238"/>
            <a:ext cx="928200" cy="5097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84818" y="2902388"/>
            <a:ext cx="3227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lang="es-419" sz="39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 DO</a:t>
            </a:r>
            <a:endParaRPr sz="39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270800" y="4736375"/>
            <a:ext cx="254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es-419" sz="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PROPIEDAD GRÁFICA E INTELECTUAL. TODOS LOS DERECHOS RESERVADOS </a:t>
            </a:r>
            <a:r>
              <a:rPr lang="es-419" sz="500" b="0" i="0" u="none" strike="noStrike" cap="none">
                <a:solidFill>
                  <a:srgbClr val="202124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®</a:t>
            </a:r>
            <a:r>
              <a:rPr lang="es-419" sz="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1000" b="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8226641" y="643185"/>
            <a:ext cx="973743" cy="1625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4"/>
          <p:cNvCxnSpPr>
            <a:stCxn id="67" idx="1"/>
            <a:endCxn id="69" idx="0"/>
          </p:cNvCxnSpPr>
          <p:nvPr/>
        </p:nvCxnSpPr>
        <p:spPr>
          <a:xfrm>
            <a:off x="8713512" y="1211328"/>
            <a:ext cx="0" cy="329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Google Shape;69;p14"/>
          <p:cNvSpPr txBox="1"/>
          <p:nvPr/>
        </p:nvSpPr>
        <p:spPr>
          <a:xfrm>
            <a:off x="8529750" y="4502900"/>
            <a:ext cx="367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B8E9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 title="Recurso 36@300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5475" y="1513476"/>
            <a:ext cx="4433050" cy="21751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270800" y="4736375"/>
            <a:ext cx="254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es-419" sz="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PROPIEDAD GRÁFICA E INTELECTUAL. TODOS LOS DERECHOS RESERVADOS </a:t>
            </a:r>
            <a:r>
              <a:rPr lang="es-419" sz="500" b="0" i="0" u="none" strike="noStrike" cap="none">
                <a:solidFill>
                  <a:schemeClr val="lt1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®</a:t>
            </a:r>
            <a:r>
              <a:rPr lang="es-419" sz="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10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8226641" y="643185"/>
            <a:ext cx="973743" cy="1625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p15"/>
          <p:cNvCxnSpPr>
            <a:stCxn id="76" idx="1"/>
            <a:endCxn id="78" idx="0"/>
          </p:cNvCxnSpPr>
          <p:nvPr/>
        </p:nvCxnSpPr>
        <p:spPr>
          <a:xfrm>
            <a:off x="8713512" y="1211328"/>
            <a:ext cx="0" cy="3291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p15"/>
          <p:cNvSpPr txBox="1"/>
          <p:nvPr/>
        </p:nvSpPr>
        <p:spPr>
          <a:xfrm>
            <a:off x="8529750" y="4502900"/>
            <a:ext cx="367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 sz="1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2228700" y="1761585"/>
            <a:ext cx="46866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s-PE" sz="3200" dirty="0"/>
              <a:t>Guía Práctica de Herramientas</a:t>
            </a:r>
            <a:endParaRPr sz="3000" b="1" i="1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3119325" y="3185925"/>
            <a:ext cx="3384000" cy="121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 b="1" u="sng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QUÉ SE PUDIERA USAR EN CADA ÁREA · QUE YA TENEMOS DISPONIBLE · QUE COMPLEMENTAN</a:t>
            </a:r>
            <a:endParaRPr sz="1800" b="1" u="sng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DCE31471-1E27-0BBF-F202-6612D2247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7609B43B-8690-2B8C-4528-1D781D3CCA49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>
            <a:extLst>
              <a:ext uri="{FF2B5EF4-FFF2-40B4-BE49-F238E27FC236}">
                <a16:creationId xmlns:a16="http://schemas.microsoft.com/office/drawing/2014/main" id="{CD8D48E7-CC68-E784-DC98-0B149CD4FCBA}"/>
              </a:ext>
            </a:extLst>
          </p:cNvPr>
          <p:cNvSpPr txBox="1"/>
          <p:nvPr/>
        </p:nvSpPr>
        <p:spPr>
          <a:xfrm>
            <a:off x="688892" y="317412"/>
            <a:ext cx="70818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 dirty="0">
                <a:solidFill>
                  <a:srgbClr val="111827"/>
                </a:solidFill>
                <a:latin typeface="Helvetica Neue" panose="020B0604020202020204" charset="0"/>
                <a:cs typeface="Poppins"/>
                <a:sym typeface="Poppins"/>
              </a:rPr>
              <a:t>¿</a:t>
            </a:r>
            <a:r>
              <a:rPr lang="en-US" sz="2400" b="1" dirty="0" err="1">
                <a:solidFill>
                  <a:srgbClr val="111827"/>
                </a:solidFill>
                <a:latin typeface="Helvetica Neue" panose="020B0604020202020204" charset="0"/>
                <a:cs typeface="Poppins"/>
                <a:sym typeface="Poppins"/>
              </a:rPr>
              <a:t>Fundamentos</a:t>
            </a:r>
            <a:r>
              <a:rPr lang="en-US" sz="2400" b="1" dirty="0">
                <a:solidFill>
                  <a:srgbClr val="111827"/>
                </a:solidFill>
                <a:latin typeface="Helvetica Neue" panose="020B0604020202020204" charset="0"/>
                <a:cs typeface="Poppins"/>
                <a:sym typeface="Poppins"/>
              </a:rPr>
              <a:t> de la </a:t>
            </a:r>
            <a:r>
              <a:rPr lang="en-US" sz="2400" b="1" dirty="0" err="1">
                <a:solidFill>
                  <a:srgbClr val="111827"/>
                </a:solidFill>
                <a:latin typeface="Helvetica Neue" panose="020B0604020202020204" charset="0"/>
                <a:cs typeface="Poppins"/>
                <a:sym typeface="Poppins"/>
              </a:rPr>
              <a:t>Inteligencia</a:t>
            </a:r>
            <a:r>
              <a:rPr lang="en-US" sz="2400" b="1" dirty="0">
                <a:solidFill>
                  <a:srgbClr val="111827"/>
                </a:solidFill>
                <a:latin typeface="Helvetica Neue" panose="020B0604020202020204" charset="0"/>
                <a:cs typeface="Poppins"/>
                <a:sym typeface="Poppins"/>
              </a:rPr>
              <a:t> artificial (IA)?</a:t>
            </a:r>
            <a:endParaRPr sz="2400" dirty="0">
              <a:latin typeface="Helvetica Neue" panose="020B0604020202020204" charset="0"/>
            </a:endParaRPr>
          </a:p>
        </p:txBody>
      </p:sp>
      <p:sp>
        <p:nvSpPr>
          <p:cNvPr id="97" name="Google Shape;97;p13">
            <a:extLst>
              <a:ext uri="{FF2B5EF4-FFF2-40B4-BE49-F238E27FC236}">
                <a16:creationId xmlns:a16="http://schemas.microsoft.com/office/drawing/2014/main" id="{677C9F6D-202E-149C-8CD6-4CBD99D1C994}"/>
              </a:ext>
            </a:extLst>
          </p:cNvPr>
          <p:cNvSpPr txBox="1"/>
          <p:nvPr/>
        </p:nvSpPr>
        <p:spPr>
          <a:xfrm>
            <a:off x="571500" y="4842080"/>
            <a:ext cx="857250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900" dirty="0">
                <a:solidFill>
                  <a:srgbClr val="9CA3AF"/>
                </a:solidFill>
                <a:latin typeface="Times"/>
                <a:ea typeface="Times"/>
                <a:cs typeface="Times"/>
                <a:sym typeface="Times"/>
              </a:rPr>
              <a:t>Orange LATAM · </a:t>
            </a:r>
            <a:r>
              <a:rPr lang="en-US" sz="900" dirty="0" err="1">
                <a:solidFill>
                  <a:srgbClr val="9CA3AF"/>
                </a:solidFill>
                <a:latin typeface="Times"/>
                <a:ea typeface="Times"/>
                <a:cs typeface="Times"/>
                <a:sym typeface="Times"/>
              </a:rPr>
              <a:t>Conceptos</a:t>
            </a:r>
            <a:r>
              <a:rPr lang="en-US" sz="900" dirty="0">
                <a:solidFill>
                  <a:srgbClr val="9CA3AF"/>
                </a:solidFill>
                <a:latin typeface="Times"/>
                <a:ea typeface="Times"/>
                <a:cs typeface="Times"/>
                <a:sym typeface="Times"/>
              </a:rPr>
              <a:t> IA</a:t>
            </a:r>
            <a:r>
              <a:rPr lang="en-US" sz="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00" dirty="0">
                <a:solidFill>
                  <a:srgbClr val="9CA3AF"/>
                </a:solidFill>
                <a:latin typeface="Times"/>
                <a:ea typeface="Times"/>
                <a:cs typeface="Times"/>
                <a:sym typeface="Times"/>
              </a:rPr>
              <a:t>01</a:t>
            </a:r>
            <a:endParaRPr sz="1050" dirty="0"/>
          </a:p>
        </p:txBody>
      </p:sp>
      <p:pic>
        <p:nvPicPr>
          <p:cNvPr id="4" name="Google Shape;86;p16">
            <a:extLst>
              <a:ext uri="{FF2B5EF4-FFF2-40B4-BE49-F238E27FC236}">
                <a16:creationId xmlns:a16="http://schemas.microsoft.com/office/drawing/2014/main" id="{CA06ABCE-EF5F-DF9A-3EAC-51C8D2A1023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6200000">
            <a:off x="8226641" y="643185"/>
            <a:ext cx="973743" cy="1625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87;p16">
            <a:extLst>
              <a:ext uri="{FF2B5EF4-FFF2-40B4-BE49-F238E27FC236}">
                <a16:creationId xmlns:a16="http://schemas.microsoft.com/office/drawing/2014/main" id="{B4511AC6-BA19-A54C-DEA3-F49DC3328E60}"/>
              </a:ext>
            </a:extLst>
          </p:cNvPr>
          <p:cNvCxnSpPr>
            <a:stCxn id="4" idx="1"/>
            <a:endCxn id="6" idx="0"/>
          </p:cNvCxnSpPr>
          <p:nvPr/>
        </p:nvCxnSpPr>
        <p:spPr>
          <a:xfrm>
            <a:off x="8713512" y="1211328"/>
            <a:ext cx="0" cy="329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88;p16">
            <a:extLst>
              <a:ext uri="{FF2B5EF4-FFF2-40B4-BE49-F238E27FC236}">
                <a16:creationId xmlns:a16="http://schemas.microsoft.com/office/drawing/2014/main" id="{F49811BF-7B64-9F39-DF1E-24E270C595B7}"/>
              </a:ext>
            </a:extLst>
          </p:cNvPr>
          <p:cNvSpPr txBox="1"/>
          <p:nvPr/>
        </p:nvSpPr>
        <p:spPr>
          <a:xfrm>
            <a:off x="8529750" y="4502900"/>
            <a:ext cx="367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sz="1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CCCA9F3-3FCF-ECC1-79B3-FF1782F0DA8F}"/>
              </a:ext>
            </a:extLst>
          </p:cNvPr>
          <p:cNvSpPr txBox="1"/>
          <p:nvPr/>
        </p:nvSpPr>
        <p:spPr>
          <a:xfrm>
            <a:off x="635794" y="1118136"/>
            <a:ext cx="4287352" cy="3118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450"/>
              </a:spcAft>
              <a:buNone/>
            </a:pPr>
            <a:r>
              <a:rPr lang="es-PE" sz="1200" b="0" i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 panose="020B0604020202020204" charset="0"/>
              </a:rPr>
              <a:t>El núcleo</a:t>
            </a:r>
          </a:p>
          <a:p>
            <a:pPr marL="0" marR="0" indent="0" algn="l">
              <a:buNone/>
            </a:pPr>
            <a:r>
              <a:rPr lang="es-PE" sz="1200" b="0" dirty="0">
                <a:solidFill>
                  <a:schemeClr val="tx1"/>
                </a:solidFill>
                <a:latin typeface="Helvetica Neue" panose="020B0604020202020204" charset="0"/>
              </a:rPr>
              <a:t>Un motor estadístico que predice —palabra, píxel o acción— la opción más probable a partir de billones de datos.</a:t>
            </a:r>
          </a:p>
          <a:p>
            <a:pPr marL="0" marR="0" indent="0" algn="l">
              <a:spcAft>
                <a:spcPts val="450"/>
              </a:spcAft>
              <a:buNone/>
            </a:pPr>
            <a:endParaRPr lang="es-PE" sz="1200" dirty="0">
              <a:solidFill>
                <a:schemeClr val="tx1"/>
              </a:solidFill>
              <a:latin typeface="Helvetica Neue" panose="020B0604020202020204" charset="0"/>
            </a:endParaRPr>
          </a:p>
          <a:p>
            <a:pPr marL="0" marR="0" indent="0" algn="l">
              <a:spcAft>
                <a:spcPts val="450"/>
              </a:spcAft>
              <a:buNone/>
            </a:pPr>
            <a:r>
              <a:rPr lang="es-PE" sz="1200" b="0" i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 panose="020B0604020202020204" charset="0"/>
              </a:rPr>
              <a:t>Modelos de lenguaje</a:t>
            </a:r>
          </a:p>
          <a:p>
            <a:pPr marL="0" marR="0" indent="0" algn="l">
              <a:buNone/>
            </a:pPr>
            <a:r>
              <a:rPr lang="es-PE" sz="1200" b="0" i="0" dirty="0">
                <a:solidFill>
                  <a:schemeClr val="tx1"/>
                </a:solidFill>
                <a:effectLst/>
                <a:latin typeface="Helvetica Neue" panose="020B0604020202020204" charset="0"/>
              </a:rPr>
              <a:t>Redes neuronales masivas que interpretan contexto y generan lenguaje natural, simulando el razonamiento humano sin realmente pensar.</a:t>
            </a:r>
          </a:p>
          <a:p>
            <a:pPr marL="0" marR="0" indent="0" algn="l">
              <a:buNone/>
            </a:pPr>
            <a:endParaRPr lang="es-PE" sz="1200" b="0" i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 Neue" panose="020B0604020202020204" charset="0"/>
            </a:endParaRPr>
          </a:p>
          <a:p>
            <a:pPr marL="0" marR="0" indent="0" algn="l">
              <a:spcAft>
                <a:spcPts val="450"/>
              </a:spcAft>
              <a:buNone/>
            </a:pPr>
            <a:r>
              <a:rPr lang="es-PE" sz="1200" b="0" i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 panose="020B0604020202020204" charset="0"/>
              </a:rPr>
              <a:t>De generar a razonar</a:t>
            </a:r>
          </a:p>
          <a:p>
            <a:pPr marL="0" marR="0" indent="0" algn="l">
              <a:buNone/>
            </a:pPr>
            <a:r>
              <a:rPr lang="es-PE" sz="1200" b="0" i="0" dirty="0">
                <a:solidFill>
                  <a:schemeClr val="tx1"/>
                </a:solidFill>
                <a:effectLst/>
                <a:latin typeface="Helvetica Neue" panose="020B0604020202020204" charset="0"/>
              </a:rPr>
              <a:t>Pasó de crear activos simples (</a:t>
            </a:r>
            <a:r>
              <a:rPr lang="es-PE" sz="1200" b="0" i="0" dirty="0" err="1">
                <a:solidFill>
                  <a:schemeClr val="tx1"/>
                </a:solidFill>
                <a:effectLst/>
                <a:latin typeface="Helvetica Neue" panose="020B0604020202020204" charset="0"/>
              </a:rPr>
              <a:t>copys</a:t>
            </a:r>
            <a:r>
              <a:rPr lang="es-PE" sz="1200" b="0" i="0" dirty="0">
                <a:solidFill>
                  <a:schemeClr val="tx1"/>
                </a:solidFill>
                <a:effectLst/>
                <a:latin typeface="Helvetica Neue" panose="020B0604020202020204" charset="0"/>
              </a:rPr>
              <a:t>, imágenes) a ejecutar lógica de negocio y tomar decisiones autónomas dentro de un flujo de trabajo completo.</a:t>
            </a:r>
          </a:p>
        </p:txBody>
      </p:sp>
      <p:pic>
        <p:nvPicPr>
          <p:cNvPr id="12" name="Google Shape;89;p13" descr="image.png">
            <a:extLst>
              <a:ext uri="{FF2B5EF4-FFF2-40B4-BE49-F238E27FC236}">
                <a16:creationId xmlns:a16="http://schemas.microsoft.com/office/drawing/2014/main" id="{0EA74EB7-9B2A-8378-E14B-CDA93CC085B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56079" y="1004156"/>
            <a:ext cx="3725993" cy="32360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3967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85813" y="1507331"/>
            <a:ext cx="3916003" cy="70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 panose="020B0604020202020204" charset="0"/>
                <a:ea typeface="DM Sans SemiBold"/>
                <a:cs typeface="DM Sans SemiBold"/>
                <a:sym typeface="DM Sans SemiBold"/>
              </a:rPr>
              <a:t>Chat (Asistencia Reactiva):</a:t>
            </a:r>
            <a:r>
              <a:rPr lang="en-US" sz="1200" dirty="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 panose="020B0604020202020204" charset="0"/>
                <a:ea typeface="DM Sans SemiBold"/>
                <a:cs typeface="DM Sans SemiBold"/>
                <a:sym typeface="DM Sans SemiBold"/>
              </a:rPr>
              <a:t> Dinámica de instrucción y respuesta: el humano dirige cada paso y toma las decisiones finales.</a:t>
            </a:r>
            <a:endParaRPr sz="1050" dirty="0">
              <a:solidFill>
                <a:schemeClr val="tx1"/>
              </a:solidFill>
              <a:latin typeface="Helvetica Neue" panose="020B0604020202020204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033463" y="2267301"/>
            <a:ext cx="3916003" cy="467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50" dirty="0" b="0">
                <a:solidFill>
                  <a:schemeClr val="tx1"/>
                </a:solidFill>
                <a:latin typeface="Helvetica Neue" panose="020B0604020202020204" charset="0"/>
                <a:ea typeface="DM Sans SemiBold"/>
                <a:cs typeface="DM Sans SemiBold"/>
                <a:sym typeface="DM Sans SemiBold"/>
              </a:rPr>
              <a:t>Uso típico: redactar, traducir documentos breves o generar ideas rápidas de campaña.</a:t>
            </a:r>
            <a:endParaRPr sz="1050" dirty="0">
              <a:solidFill>
                <a:schemeClr val="tx1"/>
              </a:solidFill>
              <a:latin typeface="Helvetica Neue" panose="020B0604020202020204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85813" y="3023132"/>
            <a:ext cx="3916003" cy="70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 panose="020B0604020202020204" charset="0"/>
                <a:ea typeface="DM Sans SemiBold"/>
                <a:cs typeface="DM Sans SemiBold"/>
                <a:sym typeface="DM Sans SemiBold"/>
              </a:rPr>
              <a:t>Agente (Autonomía Proactiva):</a:t>
            </a:r>
            <a:r>
              <a:rPr lang="en-US" sz="1200" dirty="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 panose="020B0604020202020204" charset="0"/>
                <a:ea typeface="DM Sans SemiBold"/>
                <a:cs typeface="DM Sans SemiBold"/>
                <a:sym typeface="DM Sans SemiBold"/>
              </a:rPr>
              <a:t> Recibe un objetivo de negocio, diseña su plan, se autoevalúa y ejecuta todo el proceso sin supervisión.</a:t>
            </a:r>
            <a:endParaRPr sz="1050" dirty="0">
              <a:solidFill>
                <a:schemeClr val="tx1"/>
              </a:solidFill>
              <a:latin typeface="Helvetica Neue" panose="020B0604020202020204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042988" y="3744826"/>
            <a:ext cx="3916003" cy="467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50" dirty="0" b="0">
                <a:solidFill>
                  <a:schemeClr val="tx1"/>
                </a:solidFill>
                <a:latin typeface="Helvetica Neue" panose="020B0604020202020204" charset="0"/>
                <a:ea typeface="DM Sans SemiBold"/>
                <a:cs typeface="DM Sans SemiBold"/>
                <a:sym typeface="DM Sans SemiBold"/>
              </a:rPr>
              <a:t>Uso típico en la agencia: auditar el SEO de un cliente nuevo de forma automática y enviarlo por email.</a:t>
            </a:r>
            <a:endParaRPr sz="1050" dirty="0">
              <a:solidFill>
                <a:schemeClr val="tx1"/>
              </a:solidFill>
              <a:latin typeface="Helvetica Neue" panose="020B0604020202020204" charset="0"/>
            </a:endParaRPr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6247" y="1002154"/>
            <a:ext cx="3266775" cy="350074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714376" y="428625"/>
            <a:ext cx="82510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 dirty="0">
                <a:solidFill>
                  <a:srgbClr val="111827"/>
                </a:solidFill>
                <a:latin typeface="Helvetica Neue" panose="020B0604020202020204" charset="0"/>
                <a:ea typeface="Poppins"/>
                <a:cs typeface="Poppins"/>
                <a:sym typeface="Poppins"/>
              </a:rPr>
              <a:t>Chat y </a:t>
            </a:r>
            <a:r>
              <a:rPr lang="en-US" sz="2400" b="1" dirty="0" err="1">
                <a:solidFill>
                  <a:srgbClr val="111827"/>
                </a:solidFill>
                <a:latin typeface="Helvetica Neue" panose="020B0604020202020204" charset="0"/>
                <a:ea typeface="Poppins"/>
                <a:cs typeface="Poppins"/>
                <a:sym typeface="Poppins"/>
              </a:rPr>
              <a:t>Agente</a:t>
            </a:r>
            <a:endParaRPr sz="2400" dirty="0">
              <a:latin typeface="Helvetica Neue" panose="020B0604020202020204" charset="0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571500" y="4842080"/>
            <a:ext cx="857250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900" dirty="0">
                <a:solidFill>
                  <a:srgbClr val="9CA3AF"/>
                </a:solidFill>
                <a:latin typeface="Times"/>
                <a:ea typeface="Times"/>
                <a:cs typeface="Times"/>
                <a:sym typeface="Times"/>
              </a:rPr>
              <a:t>Orange LATAM · </a:t>
            </a:r>
            <a:r>
              <a:rPr lang="en-US" sz="900" dirty="0" err="1">
                <a:solidFill>
                  <a:srgbClr val="9CA3AF"/>
                </a:solidFill>
                <a:latin typeface="Times"/>
                <a:ea typeface="Times"/>
                <a:cs typeface="Times"/>
                <a:sym typeface="Times"/>
              </a:rPr>
              <a:t>Conceptos</a:t>
            </a:r>
            <a:r>
              <a:rPr lang="en-US" sz="900" dirty="0">
                <a:solidFill>
                  <a:srgbClr val="9CA3AF"/>
                </a:solidFill>
                <a:latin typeface="Times"/>
                <a:ea typeface="Times"/>
                <a:cs typeface="Times"/>
                <a:sym typeface="Times"/>
              </a:rPr>
              <a:t> IA</a:t>
            </a:r>
            <a:r>
              <a:rPr lang="en-US" sz="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00" dirty="0">
                <a:solidFill>
                  <a:srgbClr val="9CA3AF"/>
                </a:solidFill>
                <a:latin typeface="Times"/>
                <a:ea typeface="Times"/>
                <a:cs typeface="Times"/>
                <a:sym typeface="Times"/>
              </a:rPr>
              <a:t>01</a:t>
            </a:r>
            <a:endParaRPr sz="1050" dirty="0"/>
          </a:p>
        </p:txBody>
      </p:sp>
      <p:pic>
        <p:nvPicPr>
          <p:cNvPr id="4" name="Google Shape;86;p16">
            <a:extLst>
              <a:ext uri="{FF2B5EF4-FFF2-40B4-BE49-F238E27FC236}">
                <a16:creationId xmlns:a16="http://schemas.microsoft.com/office/drawing/2014/main" id="{E7AA64E9-8296-FE98-BC8F-E46864C6063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6200000">
            <a:off x="8226641" y="643185"/>
            <a:ext cx="973743" cy="1625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87;p16">
            <a:extLst>
              <a:ext uri="{FF2B5EF4-FFF2-40B4-BE49-F238E27FC236}">
                <a16:creationId xmlns:a16="http://schemas.microsoft.com/office/drawing/2014/main" id="{6D73093F-C8C3-0ECB-4F9E-0E8B754F39D2}"/>
              </a:ext>
            </a:extLst>
          </p:cNvPr>
          <p:cNvCxnSpPr>
            <a:stCxn id="4" idx="1"/>
            <a:endCxn id="6" idx="0"/>
          </p:cNvCxnSpPr>
          <p:nvPr/>
        </p:nvCxnSpPr>
        <p:spPr>
          <a:xfrm>
            <a:off x="8713512" y="1211328"/>
            <a:ext cx="0" cy="329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88;p16">
            <a:extLst>
              <a:ext uri="{FF2B5EF4-FFF2-40B4-BE49-F238E27FC236}">
                <a16:creationId xmlns:a16="http://schemas.microsoft.com/office/drawing/2014/main" id="{A1933682-C555-9183-73E1-A09DC5A289C4}"/>
              </a:ext>
            </a:extLst>
          </p:cNvPr>
          <p:cNvSpPr txBox="1"/>
          <p:nvPr/>
        </p:nvSpPr>
        <p:spPr>
          <a:xfrm>
            <a:off x="8529750" y="4502900"/>
            <a:ext cx="367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sz="1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85813" y="1410890"/>
            <a:ext cx="3916003" cy="70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b="1">
                <a:solidFill>
                  <a:srgbClr val="11182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 panose="020B0604020202020204" charset="0"/>
                <a:ea typeface="DM Sans SemiBold"/>
                <a:cs typeface="DM Sans SemiBold"/>
                <a:sym typeface="DM Sans SemiBold"/>
              </a:rPr>
              <a:t>Tokens (Métrica Técnica):</a:t>
            </a:r>
            <a:r>
              <a:rPr lang="en-US" sz="1200" dirty="0" b="0">
                <a:solidFill>
                  <a:srgbClr val="11182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 panose="020B0604020202020204" charset="0"/>
                <a:ea typeface="DM Sans SemiBold"/>
                <a:cs typeface="DM Sans SemiBold"/>
                <a:sym typeface="DM Sans SemiBold"/>
              </a:rPr>
              <a:t> unidad mínima de procesamiento de un LLM (~4 caracteres); es el "combustible" que la IA lee y escribe.</a:t>
            </a:r>
            <a:endParaRPr sz="1050" dirty="0">
              <a:latin typeface="Helvetica Neue" panose="020B0604020202020204" charset="0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004888" y="2146697"/>
            <a:ext cx="3916003" cy="70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50" dirty="0" b="0">
                <a:solidFill>
                  <a:srgbClr val="111827"/>
                </a:solidFill>
                <a:latin typeface="Helvetica Neue" panose="020B0604020202020204" charset="0"/>
                <a:ea typeface="DM Sans SemiBold"/>
                <a:cs typeface="DM Sans SemiBold"/>
                <a:sym typeface="DM Sans SemiBold"/>
              </a:rPr>
              <a:t>Cobro: pago por uso real vía APIs de desarrollo (OpenAI, Anthropic); ideal para automatizaciones personalizadas en n8n o Make.</a:t>
            </a:r>
            <a:endParaRPr sz="1050" dirty="0">
              <a:latin typeface="Helvetica Neue" panose="020B0604020202020204" charset="0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795338" y="3044428"/>
            <a:ext cx="3916003" cy="467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b="1">
                <a:solidFill>
                  <a:srgbClr val="11182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 panose="020B0604020202020204" charset="0"/>
                <a:ea typeface="DM Sans SemiBold"/>
                <a:cs typeface="DM Sans SemiBold"/>
                <a:sym typeface="DM Sans SemiBold"/>
              </a:rPr>
              <a:t>Créditos (Métrica Comercial):</a:t>
            </a:r>
            <a:r>
              <a:rPr lang="en-US" sz="1200" dirty="0" b="0">
                <a:solidFill>
                  <a:srgbClr val="11182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 panose="020B0604020202020204" charset="0"/>
                <a:ea typeface="DM Sans SemiBold"/>
                <a:cs typeface="DM Sans SemiBold"/>
                <a:sym typeface="DM Sans SemiBold"/>
              </a:rPr>
              <a:t> "monedas" internas que las herramientas comerciales asignan al inicio de mes.</a:t>
            </a:r>
            <a:endParaRPr sz="1050" dirty="0">
              <a:latin typeface="Helvetica Neue" panose="020B0604020202020204" charset="0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1004888" y="3627834"/>
            <a:ext cx="3916003" cy="70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50" dirty="0" b="0">
                <a:solidFill>
                  <a:srgbClr val="111827"/>
                </a:solidFill>
                <a:latin typeface="Helvetica Neue" panose="020B0604020202020204" charset="0"/>
                <a:ea typeface="DM Sans SemiBold"/>
                <a:cs typeface="DM Sans SemiBold"/>
                <a:sym typeface="DM Sans SemiBold"/>
              </a:rPr>
              <a:t>Cobro: prepago o suscripción de usuario; cada acción compleja (una imagen, un reporte) consume créditos predefinidos.</a:t>
            </a:r>
            <a:endParaRPr sz="1050" dirty="0">
              <a:latin typeface="Helvetica Neue" panose="020B0604020202020204" charset="0"/>
            </a:endParaRPr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12746" y="1268740"/>
            <a:ext cx="3145441" cy="270033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71500" y="1410891"/>
            <a:ext cx="128588" cy="233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13" b="1">
                <a:solidFill>
                  <a:srgbClr val="FF6B00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 sz="1050"/>
          </a:p>
        </p:txBody>
      </p:sp>
      <p:sp>
        <p:nvSpPr>
          <p:cNvPr id="111" name="Google Shape;111;p14"/>
          <p:cNvSpPr txBox="1"/>
          <p:nvPr/>
        </p:nvSpPr>
        <p:spPr>
          <a:xfrm>
            <a:off x="581025" y="3044428"/>
            <a:ext cx="128588" cy="233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13" b="1" dirty="0">
                <a:solidFill>
                  <a:srgbClr val="FF6B00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 sz="1050"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714376" y="428625"/>
            <a:ext cx="82510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 dirty="0">
                <a:solidFill>
                  <a:srgbClr val="111827"/>
                </a:solidFill>
                <a:latin typeface="Helvetica Neue" panose="020B0604020202020204" charset="0"/>
                <a:ea typeface="Poppins"/>
                <a:cs typeface="Poppins"/>
                <a:sym typeface="Poppins"/>
              </a:rPr>
              <a:t>Tokens y </a:t>
            </a:r>
            <a:r>
              <a:rPr lang="en-US" sz="2400" b="1" dirty="0" err="1">
                <a:solidFill>
                  <a:srgbClr val="111827"/>
                </a:solidFill>
                <a:latin typeface="Helvetica Neue" panose="020B0604020202020204" charset="0"/>
                <a:ea typeface="Poppins"/>
                <a:cs typeface="Poppins"/>
                <a:sym typeface="Poppins"/>
              </a:rPr>
              <a:t>Créditos</a:t>
            </a:r>
            <a:endParaRPr sz="2400" dirty="0">
              <a:latin typeface="Helvetica Neue" panose="020B0604020202020204" charset="0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571500" y="4842080"/>
            <a:ext cx="857250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900">
                <a:solidFill>
                  <a:srgbClr val="9CA3AF"/>
                </a:solidFill>
                <a:latin typeface="Times"/>
                <a:ea typeface="Times"/>
                <a:cs typeface="Times"/>
                <a:sym typeface="Times"/>
              </a:rPr>
              <a:t>Orange LATAM · Guía de Recursos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00">
                <a:solidFill>
                  <a:srgbClr val="9CA3AF"/>
                </a:solidFill>
                <a:latin typeface="Times"/>
                <a:ea typeface="Times"/>
                <a:cs typeface="Times"/>
                <a:sym typeface="Times"/>
              </a:rPr>
              <a:t>02</a:t>
            </a:r>
            <a:endParaRPr sz="1050"/>
          </a:p>
        </p:txBody>
      </p:sp>
      <p:pic>
        <p:nvPicPr>
          <p:cNvPr id="2" name="Google Shape;86;p16">
            <a:extLst>
              <a:ext uri="{FF2B5EF4-FFF2-40B4-BE49-F238E27FC236}">
                <a16:creationId xmlns:a16="http://schemas.microsoft.com/office/drawing/2014/main" id="{4E1F4D50-3F01-9AF7-4DD8-7943441D85B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6200000">
            <a:off x="8226641" y="643185"/>
            <a:ext cx="973743" cy="1625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Google Shape;87;p16">
            <a:extLst>
              <a:ext uri="{FF2B5EF4-FFF2-40B4-BE49-F238E27FC236}">
                <a16:creationId xmlns:a16="http://schemas.microsoft.com/office/drawing/2014/main" id="{E8BEA17F-773B-405D-0D17-224E7ED67B13}"/>
              </a:ext>
            </a:extLst>
          </p:cNvPr>
          <p:cNvCxnSpPr>
            <a:stCxn id="2" idx="1"/>
          </p:cNvCxnSpPr>
          <p:nvPr/>
        </p:nvCxnSpPr>
        <p:spPr>
          <a:xfrm>
            <a:off x="8713512" y="1211328"/>
            <a:ext cx="0" cy="329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03784"/>
            <a:ext cx="1508782" cy="2357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94582" y="1703784"/>
            <a:ext cx="1508782" cy="2357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7665" y="1703784"/>
            <a:ext cx="1508782" cy="2357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40747" y="1703784"/>
            <a:ext cx="1508782" cy="2357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63830" y="1703784"/>
            <a:ext cx="1508782" cy="235743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707232" y="2225278"/>
            <a:ext cx="1299185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13" dirty="0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</a:t>
            </a:r>
            <a:r>
              <a:rPr lang="en-US" sz="1013" dirty="0">
                <a:solidFill>
                  <a:srgbClr val="111827"/>
                </a:solidFill>
                <a:latin typeface="Helvetica Neue" panose="020B0604020202020204" charset="0"/>
                <a:ea typeface="Poppins SemiBold"/>
                <a:cs typeface="Poppins SemiBold"/>
                <a:sym typeface="Poppins SemiBold"/>
              </a:rPr>
              <a:t>El LLM</a:t>
            </a:r>
            <a:endParaRPr sz="1050" dirty="0">
              <a:latin typeface="Helvetica Neue" panose="020B0604020202020204" charset="0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707232" y="2475309"/>
            <a:ext cx="1237319" cy="118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900" b="1" dirty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El Cerebro Lógico:</a:t>
            </a:r>
            <a:r>
              <a:rPr lang="en-US" sz="900" dirty="0" b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 modelo fundacional (GPT-4o, Claude) que interpreta intenciones y razona instrucciones complejas.</a:t>
            </a:r>
            <a:endParaRPr sz="1050" dirty="0">
              <a:latin typeface="Helvetica Neue" panose="020B0604020202020204" charset="0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2330314" y="2225278"/>
            <a:ext cx="1299185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13" dirty="0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</a:t>
            </a:r>
            <a:r>
              <a:rPr lang="en-US" sz="1013" dirty="0">
                <a:solidFill>
                  <a:srgbClr val="111827"/>
                </a:solidFill>
                <a:latin typeface="Helvetica Neue" panose="020B0604020202020204" charset="0"/>
                <a:ea typeface="Poppins SemiBold"/>
                <a:cs typeface="Poppins SemiBold"/>
                <a:sym typeface="Poppins SemiBold"/>
              </a:rPr>
              <a:t>. </a:t>
            </a:r>
            <a:r>
              <a:rPr lang="en-US" sz="1013" dirty="0" err="1">
                <a:solidFill>
                  <a:srgbClr val="111827"/>
                </a:solidFill>
                <a:latin typeface="Helvetica Neue" panose="020B0604020202020204" charset="0"/>
                <a:ea typeface="Poppins SemiBold"/>
                <a:cs typeface="Poppins SemiBold"/>
                <a:sym typeface="Poppins SemiBold"/>
              </a:rPr>
              <a:t>Contexto</a:t>
            </a:r>
            <a:endParaRPr sz="1050" dirty="0">
              <a:latin typeface="Helvetica Neue" panose="020B0604020202020204" charset="0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2330314" y="2475309"/>
            <a:ext cx="1237319" cy="118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900" b="1" dirty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La Memoria RAM:</a:t>
            </a:r>
            <a:r>
              <a:rPr lang="en-US" sz="900" dirty="0" b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 cuánta información (briefs, reglas, histórico) puede mantener activa la IA sin perder detalles clave.</a:t>
            </a:r>
            <a:endParaRPr sz="1050" dirty="0">
              <a:latin typeface="Helvetica Neue" panose="020B0604020202020204" charset="0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3953396" y="2225278"/>
            <a:ext cx="1299185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13" dirty="0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</a:t>
            </a:r>
            <a:r>
              <a:rPr lang="en-US" sz="1013" dirty="0">
                <a:solidFill>
                  <a:srgbClr val="111827"/>
                </a:solidFill>
                <a:latin typeface="Helvetica Neue" panose="020B0604020202020204" charset="0"/>
                <a:ea typeface="Poppins SemiBold"/>
                <a:cs typeface="Poppins SemiBold"/>
                <a:sym typeface="Poppins SemiBold"/>
              </a:rPr>
              <a:t>. El </a:t>
            </a:r>
            <a:r>
              <a:rPr lang="en-US" sz="1013" dirty="0" err="1">
                <a:solidFill>
                  <a:srgbClr val="111827"/>
                </a:solidFill>
                <a:latin typeface="Helvetica Neue" panose="020B0604020202020204" charset="0"/>
                <a:ea typeface="Poppins SemiBold"/>
                <a:cs typeface="Poppins SemiBold"/>
                <a:sym typeface="Poppins SemiBold"/>
              </a:rPr>
              <a:t>Agente</a:t>
            </a:r>
            <a:endParaRPr sz="1050" dirty="0">
              <a:latin typeface="Helvetica Neue" panose="020B0604020202020204" charset="0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3953396" y="2475309"/>
            <a:ext cx="1237319" cy="118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900" b="1" dirty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El Ejecutor Autónomo:</a:t>
            </a:r>
            <a:r>
              <a:rPr lang="en-US" sz="900" dirty="0" b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 envuelve al LLM dándole iniciativa propia para autoevaluarse y planificar flujos lógicos.</a:t>
            </a:r>
            <a:endParaRPr sz="1050" dirty="0">
              <a:latin typeface="Helvetica Neue" panose="020B0604020202020204" charset="0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5576479" y="2225278"/>
            <a:ext cx="1299185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13" dirty="0">
                <a:solidFill>
                  <a:srgbClr val="111827"/>
                </a:solidFill>
                <a:latin typeface="Helvetica Neue" panose="020B0604020202020204" charset="0"/>
                <a:ea typeface="Poppins SemiBold"/>
                <a:cs typeface="Poppins SemiBold"/>
                <a:sym typeface="Poppins SemiBold"/>
              </a:rPr>
              <a:t>4. El MCP</a:t>
            </a:r>
            <a:endParaRPr sz="1050" dirty="0">
              <a:latin typeface="Helvetica Neue" panose="020B0604020202020204" charset="0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5576479" y="2475309"/>
            <a:ext cx="1237319" cy="1018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900" b="1" dirty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El Enchufe Universal:</a:t>
            </a:r>
            <a:r>
              <a:rPr lang="en-US" sz="900" dirty="0" b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 protocolo estándar (como un puerto USB) que conecta la IA a otras apps o bases de datos.</a:t>
            </a:r>
            <a:endParaRPr sz="1050" dirty="0">
              <a:latin typeface="Helvetica Neue" panose="020B0604020202020204" charset="0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7199561" y="2225278"/>
            <a:ext cx="1299185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13" dirty="0">
                <a:solidFill>
                  <a:srgbClr val="111827"/>
                </a:solidFill>
                <a:latin typeface="Helvetica Neue" panose="020B0604020202020204" charset="0"/>
                <a:ea typeface="Poppins SemiBold"/>
                <a:cs typeface="Poppins SemiBold"/>
                <a:sym typeface="Poppins SemiBold"/>
              </a:rPr>
              <a:t>5. Las Tools</a:t>
            </a:r>
            <a:endParaRPr sz="1050" dirty="0">
              <a:latin typeface="Helvetica Neue" panose="020B0604020202020204" charset="0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7199561" y="2475309"/>
            <a:ext cx="1237319" cy="1018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900" b="1" dirty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Las Manos Técnicas:</a:t>
            </a:r>
            <a:r>
              <a:rPr lang="en-US" sz="900" dirty="0" b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 acciones del agente —buscar en Google, redactar emails, descargar un Excel— para ejecutar tareas.</a:t>
            </a:r>
            <a:endParaRPr sz="1050" dirty="0">
              <a:latin typeface="Helvetica Neue" panose="020B0604020202020204" charset="0"/>
            </a:endParaRPr>
          </a:p>
        </p:txBody>
      </p:sp>
      <p:pic>
        <p:nvPicPr>
          <p:cNvPr id="136" name="Google Shape;13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07231" y="1889522"/>
            <a:ext cx="2000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330313" y="1889522"/>
            <a:ext cx="2000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953396" y="1889522"/>
            <a:ext cx="250031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576478" y="1889522"/>
            <a:ext cx="150019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99561" y="1889522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714376" y="428625"/>
            <a:ext cx="82510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 dirty="0" err="1">
                <a:solidFill>
                  <a:srgbClr val="111827"/>
                </a:solidFill>
                <a:latin typeface="Helvetica Neue" panose="020B0604020202020204" charset="0"/>
                <a:ea typeface="Poppins"/>
                <a:cs typeface="Poppins"/>
                <a:sym typeface="Poppins"/>
              </a:rPr>
              <a:t>Ecosistema</a:t>
            </a:r>
            <a:r>
              <a:rPr lang="en-US" sz="2400" b="1" dirty="0">
                <a:solidFill>
                  <a:srgbClr val="111827"/>
                </a:solidFill>
                <a:latin typeface="Helvetica Neue" panose="020B0604020202020204" charset="0"/>
                <a:ea typeface="Poppins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111827"/>
                </a:solidFill>
                <a:latin typeface="Helvetica Neue" panose="020B0604020202020204" charset="0"/>
                <a:ea typeface="Poppins"/>
                <a:cs typeface="Poppins"/>
                <a:sym typeface="Poppins"/>
              </a:rPr>
              <a:t>Agéntico</a:t>
            </a:r>
            <a:r>
              <a:rPr lang="en-US" sz="2400" b="1" dirty="0">
                <a:solidFill>
                  <a:srgbClr val="111827"/>
                </a:solidFill>
                <a:latin typeface="Helvetica Neue" panose="020B0604020202020204" charset="0"/>
                <a:ea typeface="Poppins"/>
                <a:cs typeface="Poppins"/>
                <a:sym typeface="Poppins"/>
              </a:rPr>
              <a:t> Técnico</a:t>
            </a:r>
            <a:endParaRPr sz="2400" dirty="0">
              <a:latin typeface="Helvetica Neue" panose="020B0604020202020204" charset="0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571500" y="4842080"/>
            <a:ext cx="857250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900">
                <a:solidFill>
                  <a:srgbClr val="9CA3AF"/>
                </a:solidFill>
                <a:latin typeface="Times"/>
                <a:ea typeface="Times"/>
                <a:cs typeface="Times"/>
                <a:sym typeface="Times"/>
              </a:rPr>
              <a:t>Orange LATAM · Arquitectura IA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00">
                <a:solidFill>
                  <a:srgbClr val="9CA3AF"/>
                </a:solidFill>
                <a:latin typeface="Times"/>
                <a:ea typeface="Times"/>
                <a:cs typeface="Times"/>
                <a:sym typeface="Times"/>
              </a:rPr>
              <a:t>03</a:t>
            </a:r>
            <a:endParaRPr sz="1050"/>
          </a:p>
        </p:txBody>
      </p:sp>
      <p:pic>
        <p:nvPicPr>
          <p:cNvPr id="2" name="Google Shape;86;p16">
            <a:extLst>
              <a:ext uri="{FF2B5EF4-FFF2-40B4-BE49-F238E27FC236}">
                <a16:creationId xmlns:a16="http://schemas.microsoft.com/office/drawing/2014/main" id="{9D88C520-4A77-825A-2EF4-AD3426D6B1AB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 rot="16200000">
            <a:off x="8226641" y="643185"/>
            <a:ext cx="973743" cy="1625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Google Shape;87;p16">
            <a:extLst>
              <a:ext uri="{FF2B5EF4-FFF2-40B4-BE49-F238E27FC236}">
                <a16:creationId xmlns:a16="http://schemas.microsoft.com/office/drawing/2014/main" id="{2CAFC10C-C31F-98FE-4DB3-F416888290D6}"/>
              </a:ext>
            </a:extLst>
          </p:cNvPr>
          <p:cNvCxnSpPr>
            <a:stCxn id="2" idx="1"/>
          </p:cNvCxnSpPr>
          <p:nvPr/>
        </p:nvCxnSpPr>
        <p:spPr>
          <a:xfrm>
            <a:off x="8713512" y="1211328"/>
            <a:ext cx="0" cy="329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44823"/>
            <a:ext cx="3893344" cy="2875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79157" y="1444823"/>
            <a:ext cx="3893344" cy="2875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864394" y="1737717"/>
            <a:ext cx="3472934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3" b="1" dirty="0">
                <a:solidFill>
                  <a:srgbClr val="FF6B00"/>
                </a:solidFill>
                <a:latin typeface="Helvetica Neue" panose="020B0604020202020204" charset="0"/>
                <a:ea typeface="Poppins"/>
                <a:cs typeface="Poppins"/>
                <a:sym typeface="Poppins"/>
              </a:rPr>
              <a:t>Tools (Las </a:t>
            </a:r>
            <a:r>
              <a:rPr lang="en-US" sz="1463" b="1" dirty="0" err="1">
                <a:solidFill>
                  <a:srgbClr val="FF6B00"/>
                </a:solidFill>
                <a:latin typeface="Helvetica Neue" panose="020B0604020202020204" charset="0"/>
                <a:ea typeface="Poppins"/>
                <a:cs typeface="Poppins"/>
                <a:sym typeface="Poppins"/>
              </a:rPr>
              <a:t>Herramientas</a:t>
            </a:r>
            <a:r>
              <a:rPr lang="en-US" sz="1463" b="1" dirty="0">
                <a:solidFill>
                  <a:srgbClr val="FF6B00"/>
                </a:solidFill>
                <a:latin typeface="Helvetica Neue" panose="020B0604020202020204" charset="0"/>
                <a:ea typeface="Poppins"/>
                <a:cs typeface="Poppins"/>
                <a:sym typeface="Poppins"/>
              </a:rPr>
              <a:t>)</a:t>
            </a:r>
            <a:endParaRPr sz="1050" dirty="0">
              <a:latin typeface="Helvetica Neue" panose="020B0604020202020204" charset="0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864394" y="2123479"/>
            <a:ext cx="3307556" cy="14288"/>
          </a:xfrm>
          <a:prstGeom prst="rect">
            <a:avLst/>
          </a:prstGeom>
          <a:solidFill>
            <a:srgbClr val="E5E3DF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864394" y="2242542"/>
            <a:ext cx="3307556" cy="941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21"/>
              </a:lnSpc>
            </a:pPr>
            <a:r>
              <a:rPr lang="en-US" sz="1050" b="1" dirty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Son "las manos" del agente:</a:t>
            </a:r>
            <a:r>
              <a:rPr lang="en-US" sz="1050" dirty="0" b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 sistemas externos que ejecuta de forma autónoma. No determinan la calidad del resultado, sino su alcance técnico.</a:t>
            </a:r>
            <a:endParaRPr sz="1050" dirty="0">
              <a:latin typeface="Helvetica Neue" panose="020B0604020202020204" charset="0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864394" y="3336131"/>
            <a:ext cx="3307556" cy="70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21"/>
              </a:lnSpc>
            </a:pPr>
            <a:r>
              <a:rPr lang="en-US" sz="1050" b="1" dirty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Ejemplos:</a:t>
            </a:r>
            <a:r>
              <a:rPr lang="en-US" sz="1050" dirty="0" b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 buscador web, APIs de analítica, protocolo MCP para leer archivos, envío de correos.</a:t>
            </a:r>
            <a:endParaRPr sz="1050" dirty="0">
              <a:latin typeface="Helvetica Neue" panose="020B0604020202020204" charset="0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4972050" y="1737717"/>
            <a:ext cx="3472934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3" b="1" dirty="0">
                <a:solidFill>
                  <a:srgbClr val="FF6B00"/>
                </a:solidFill>
                <a:latin typeface="Helvetica Neue" panose="020B0604020202020204" charset="0"/>
                <a:ea typeface="Poppins"/>
                <a:cs typeface="Poppins"/>
                <a:sym typeface="Poppins"/>
              </a:rPr>
              <a:t>Skills (Las </a:t>
            </a:r>
            <a:r>
              <a:rPr lang="en-US" sz="1463" b="1" dirty="0" err="1">
                <a:solidFill>
                  <a:srgbClr val="FF6B00"/>
                </a:solidFill>
                <a:latin typeface="Helvetica Neue" panose="020B0604020202020204" charset="0"/>
                <a:ea typeface="Poppins"/>
                <a:cs typeface="Poppins"/>
                <a:sym typeface="Poppins"/>
              </a:rPr>
              <a:t>Habilidades</a:t>
            </a:r>
            <a:r>
              <a:rPr lang="en-US" sz="1463" b="1" dirty="0">
                <a:solidFill>
                  <a:srgbClr val="FF6B00"/>
                </a:solidFill>
                <a:latin typeface="Helvetica Neue" panose="020B0604020202020204" charset="0"/>
                <a:ea typeface="Poppins"/>
                <a:cs typeface="Poppins"/>
                <a:sym typeface="Poppins"/>
              </a:rPr>
              <a:t>)</a:t>
            </a:r>
            <a:endParaRPr sz="1050" dirty="0">
              <a:latin typeface="Helvetica Neue" panose="020B0604020202020204" charset="0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4972051" y="2123479"/>
            <a:ext cx="3307556" cy="14288"/>
          </a:xfrm>
          <a:prstGeom prst="rect">
            <a:avLst/>
          </a:prstGeom>
          <a:solidFill>
            <a:srgbClr val="E5E3DF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4972051" y="2223492"/>
            <a:ext cx="3307556" cy="941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21"/>
              </a:lnSpc>
            </a:pPr>
            <a:r>
              <a:rPr lang="en-US" sz="1050" b="1" dirty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Son "la metodología y criterio":</a:t>
            </a:r>
            <a:r>
              <a:rPr lang="en-US" sz="1050" dirty="0" b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 instrucciones (prompts, reglas de negocio) que enseñan al agente a usar las Tools con el estándar de calidad de la agencia.</a:t>
            </a:r>
            <a:endParaRPr sz="1050" dirty="0"/>
          </a:p>
        </p:txBody>
      </p:sp>
      <p:sp>
        <p:nvSpPr>
          <p:cNvPr id="158" name="Google Shape;158;p16"/>
          <p:cNvSpPr txBox="1"/>
          <p:nvPr/>
        </p:nvSpPr>
        <p:spPr>
          <a:xfrm>
            <a:off x="4972051" y="3259931"/>
            <a:ext cx="3307556" cy="70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21"/>
              </a:lnSpc>
            </a:pPr>
            <a:r>
              <a:rPr lang="en-US" sz="1050" b="1" dirty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Ejemplos:</a:t>
            </a:r>
            <a:r>
              <a:rPr lang="en-US" sz="1050" dirty="0" b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 reporte SEO enfocado en conversión, auditar competidores con nuestra matriz, priorizar keywords transaccionales.</a:t>
            </a:r>
            <a:endParaRPr sz="1050" dirty="0"/>
          </a:p>
        </p:txBody>
      </p:sp>
      <p:sp>
        <p:nvSpPr>
          <p:cNvPr id="159" name="Google Shape;159;p16"/>
          <p:cNvSpPr txBox="1"/>
          <p:nvPr/>
        </p:nvSpPr>
        <p:spPr>
          <a:xfrm>
            <a:off x="714376" y="428625"/>
            <a:ext cx="82510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 dirty="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Tools vs. Skills</a:t>
            </a:r>
            <a:endParaRPr sz="2400" dirty="0"/>
          </a:p>
        </p:txBody>
      </p:sp>
      <p:sp>
        <p:nvSpPr>
          <p:cNvPr id="161" name="Google Shape;161;p16"/>
          <p:cNvSpPr txBox="1"/>
          <p:nvPr/>
        </p:nvSpPr>
        <p:spPr>
          <a:xfrm>
            <a:off x="571500" y="4842080"/>
            <a:ext cx="857250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900">
                <a:solidFill>
                  <a:srgbClr val="9CA3AF"/>
                </a:solidFill>
                <a:latin typeface="Times"/>
                <a:ea typeface="Times"/>
                <a:cs typeface="Times"/>
                <a:sym typeface="Times"/>
              </a:rPr>
              <a:t>Orange LATAM · Criterio Metodológico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00">
                <a:solidFill>
                  <a:srgbClr val="9CA3AF"/>
                </a:solidFill>
                <a:latin typeface="Times"/>
                <a:ea typeface="Times"/>
                <a:cs typeface="Times"/>
                <a:sym typeface="Times"/>
              </a:rPr>
              <a:t>04</a:t>
            </a:r>
            <a:endParaRPr sz="1050"/>
          </a:p>
        </p:txBody>
      </p:sp>
      <p:pic>
        <p:nvPicPr>
          <p:cNvPr id="2" name="Google Shape;86;p16">
            <a:extLst>
              <a:ext uri="{FF2B5EF4-FFF2-40B4-BE49-F238E27FC236}">
                <a16:creationId xmlns:a16="http://schemas.microsoft.com/office/drawing/2014/main" id="{448625A8-44F4-BD0B-47CA-92E7E5E0EC7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6200000">
            <a:off x="8226641" y="643185"/>
            <a:ext cx="973743" cy="1625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Google Shape;87;p16">
            <a:extLst>
              <a:ext uri="{FF2B5EF4-FFF2-40B4-BE49-F238E27FC236}">
                <a16:creationId xmlns:a16="http://schemas.microsoft.com/office/drawing/2014/main" id="{3278720F-DD8D-CC24-E2DE-9F805D3E3981}"/>
              </a:ext>
            </a:extLst>
          </p:cNvPr>
          <p:cNvCxnSpPr>
            <a:stCxn id="2" idx="1"/>
          </p:cNvCxnSpPr>
          <p:nvPr/>
        </p:nvCxnSpPr>
        <p:spPr>
          <a:xfrm>
            <a:off x="8713512" y="1211328"/>
            <a:ext cx="0" cy="329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66;p17" descr="image.png">
            <a:extLst>
              <a:ext uri="{FF2B5EF4-FFF2-40B4-BE49-F238E27FC236}">
                <a16:creationId xmlns:a16="http://schemas.microsoft.com/office/drawing/2014/main" id="{AC6D63D1-12D5-767C-D0EF-31CBC94F59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270800" y="4736375"/>
            <a:ext cx="254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es-419" sz="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PROPIEDAD GRÁFICA E INTELECTUAL. TODOS LOS DERECHOS RESERVADOS </a:t>
            </a:r>
            <a:r>
              <a:rPr lang="es-419" sz="500" b="0" i="0" u="none" strike="noStrike" cap="none">
                <a:solidFill>
                  <a:srgbClr val="202124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®</a:t>
            </a:r>
            <a:r>
              <a:rPr lang="es-419" sz="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1000" b="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8226641" y="643185"/>
            <a:ext cx="973743" cy="1625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6"/>
          <p:cNvCxnSpPr>
            <a:stCxn id="86" idx="1"/>
            <a:endCxn id="88" idx="0"/>
          </p:cNvCxnSpPr>
          <p:nvPr/>
        </p:nvCxnSpPr>
        <p:spPr>
          <a:xfrm>
            <a:off x="8713512" y="1211328"/>
            <a:ext cx="0" cy="329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16"/>
          <p:cNvSpPr txBox="1"/>
          <p:nvPr/>
        </p:nvSpPr>
        <p:spPr>
          <a:xfrm>
            <a:off x="8529750" y="4502900"/>
            <a:ext cx="367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9" name="Google Shape;89;p16" title="Recurso 19@300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5612" y="1814870"/>
            <a:ext cx="1029317" cy="292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 title="Recurso 19@300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5036" y="1858662"/>
            <a:ext cx="1029317" cy="292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 title="Recurso 19@300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5622" y="3302670"/>
            <a:ext cx="1029317" cy="292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 title="Recurso 19@300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5009" y="3302670"/>
            <a:ext cx="1029317" cy="29221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2510063" y="1291663"/>
            <a:ext cx="860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SEO</a:t>
            </a:r>
            <a:endParaRPr sz="20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5372358" y="1082850"/>
            <a:ext cx="11334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VIDEOAUDIO</a:t>
            </a:r>
            <a:endParaRPr sz="20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2123075" y="2576261"/>
            <a:ext cx="16344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IMÁGENES </a:t>
            </a:r>
            <a:r>
              <a:rPr lang="es-419" sz="2000" b="1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DISEñO</a:t>
            </a:r>
            <a:endParaRPr sz="20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4847808" y="2526594"/>
            <a:ext cx="21825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ASISTENTES AGENTICO </a:t>
            </a:r>
            <a:endParaRPr sz="20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7" name="Google Shape;97;p16"/>
          <p:cNvCxnSpPr/>
          <p:nvPr/>
        </p:nvCxnSpPr>
        <p:spPr>
          <a:xfrm>
            <a:off x="1599600" y="2444375"/>
            <a:ext cx="594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" name="Google Shape;98;p16"/>
          <p:cNvCxnSpPr/>
          <p:nvPr/>
        </p:nvCxnSpPr>
        <p:spPr>
          <a:xfrm>
            <a:off x="4379275" y="1082850"/>
            <a:ext cx="0" cy="2977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66;p17" descr="image.png">
            <a:extLst>
              <a:ext uri="{FF2B5EF4-FFF2-40B4-BE49-F238E27FC236}">
                <a16:creationId xmlns:a16="http://schemas.microsoft.com/office/drawing/2014/main" id="{9D2BC038-65DB-A28B-4896-0CA764BBD5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/>
        </p:nvSpPr>
        <p:spPr>
          <a:xfrm>
            <a:off x="270800" y="4736375"/>
            <a:ext cx="254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es-419" sz="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PROPIEDAD GRÁFICA E INTELECTUAL. TODOS LOS DERECHOS RESERVADOS </a:t>
            </a:r>
            <a:r>
              <a:rPr lang="es-419" sz="500" b="0" i="0" u="none" strike="noStrike" cap="none">
                <a:solidFill>
                  <a:srgbClr val="202124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®</a:t>
            </a:r>
            <a:r>
              <a:rPr lang="es-419" sz="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1000" b="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8226641" y="643185"/>
            <a:ext cx="973743" cy="1625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17"/>
          <p:cNvCxnSpPr>
            <a:stCxn id="104" idx="1"/>
            <a:endCxn id="106" idx="0"/>
          </p:cNvCxnSpPr>
          <p:nvPr/>
        </p:nvCxnSpPr>
        <p:spPr>
          <a:xfrm>
            <a:off x="8713512" y="1211328"/>
            <a:ext cx="0" cy="329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6;p17"/>
          <p:cNvSpPr txBox="1"/>
          <p:nvPr/>
        </p:nvSpPr>
        <p:spPr>
          <a:xfrm>
            <a:off x="8529750" y="4502900"/>
            <a:ext cx="367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05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375775" y="334575"/>
            <a:ext cx="6867600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 dirty="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TIPOS DE HERRAMIENTAS</a:t>
            </a:r>
            <a:endParaRPr sz="2500" dirty="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760650" y="903975"/>
            <a:ext cx="601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Esta guía cubre las herramientas más útiles para la agencia, organizadas por área.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9" name="Google Shape;109;p17" title="Recurso 13@300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489151" y="1007699"/>
            <a:ext cx="162075" cy="16184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/>
          <p:nvPr/>
        </p:nvSpPr>
        <p:spPr>
          <a:xfrm>
            <a:off x="375775" y="1983800"/>
            <a:ext cx="3861000" cy="2519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4394100" y="1983800"/>
            <a:ext cx="3861000" cy="2519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370075" y="1471888"/>
            <a:ext cx="3872400" cy="369300"/>
          </a:xfrm>
          <a:prstGeom prst="rect">
            <a:avLst/>
          </a:prstGeom>
          <a:solidFill>
            <a:srgbClr val="FFD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Ya disponibles en SEO Conjuntas</a:t>
            </a:r>
            <a:endParaRPr sz="11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394100" y="1471888"/>
            <a:ext cx="3872400" cy="3693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＋  Herramientas independientes</a:t>
            </a:r>
            <a:endParaRPr sz="11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726775" y="2133588"/>
            <a:ext cx="31590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Herramientas que la agencia ya tiene activadas en el plan actual de </a:t>
            </a:r>
            <a:r>
              <a:rPr lang="es-419" sz="1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SEO Conjuntas.</a:t>
            </a:r>
            <a:endParaRPr sz="10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806275" y="2785500"/>
            <a:ext cx="3000000" cy="338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👉 Solo hay que usarlas. Sin costo adicional.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726775" y="3242713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 Semrush · Mangools · Ubersuggest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 Midjourney · Freepik · DALL·E 3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 InVideo · Magisto · SORA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 ChatGPT Plus incluido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4672200" y="2069888"/>
            <a:ext cx="3316200" cy="71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Herramientas de IA de primera línea que no son de seo conjuntas, pero se recomiendan por su impacto real en el trabajo de agencia.</a:t>
            </a:r>
            <a:endParaRPr sz="1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4759875" y="2851000"/>
            <a:ext cx="3000000" cy="338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👉 Planes gratuitos o precios bajos.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4759875" y="3242713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 Claude · Gemini · ChatGPT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 NotebookLM · Perplexity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 Metricool · ElevenLabs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 Google Stitch · Nano Banana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F284D4DE-E311-4AF5-0DE5-8CC63D4CF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66;p17" descr="image.png">
            <a:extLst>
              <a:ext uri="{FF2B5EF4-FFF2-40B4-BE49-F238E27FC236}">
                <a16:creationId xmlns:a16="http://schemas.microsoft.com/office/drawing/2014/main" id="{CF81D515-4B00-6E11-21D4-38C84D26CE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6D7D3198-D8BB-9C54-ED03-6A8B662A6ACB}"/>
              </a:ext>
            </a:extLst>
          </p:cNvPr>
          <p:cNvSpPr/>
          <p:nvPr/>
        </p:nvSpPr>
        <p:spPr>
          <a:xfrm rot="10800000" flipH="1">
            <a:off x="0" y="125"/>
            <a:ext cx="8279400" cy="816300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8">
            <a:extLst>
              <a:ext uri="{FF2B5EF4-FFF2-40B4-BE49-F238E27FC236}">
                <a16:creationId xmlns:a16="http://schemas.microsoft.com/office/drawing/2014/main" id="{725BF1F4-C982-6BB9-42D9-C896F89ABAF5}"/>
              </a:ext>
            </a:extLst>
          </p:cNvPr>
          <p:cNvSpPr txBox="1"/>
          <p:nvPr/>
        </p:nvSpPr>
        <p:spPr>
          <a:xfrm>
            <a:off x="270800" y="4736375"/>
            <a:ext cx="254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es-419" sz="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PROPIEDAD GRÁFICA E INTELECTUAL. TODOS LOS DERECHOS RESERVADOS </a:t>
            </a:r>
            <a:r>
              <a:rPr lang="es-419" sz="500" b="0" i="0" u="none" strike="noStrike" cap="none">
                <a:solidFill>
                  <a:srgbClr val="202124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®</a:t>
            </a:r>
            <a:r>
              <a:rPr lang="es-419" sz="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1000" b="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26" name="Google Shape;126;p18">
            <a:extLst>
              <a:ext uri="{FF2B5EF4-FFF2-40B4-BE49-F238E27FC236}">
                <a16:creationId xmlns:a16="http://schemas.microsoft.com/office/drawing/2014/main" id="{5422BB10-7070-DBAC-2BD2-B1254A04418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8226641" y="643185"/>
            <a:ext cx="973743" cy="1625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p18">
            <a:extLst>
              <a:ext uri="{FF2B5EF4-FFF2-40B4-BE49-F238E27FC236}">
                <a16:creationId xmlns:a16="http://schemas.microsoft.com/office/drawing/2014/main" id="{C1663467-212E-B67C-8990-E21013978B57}"/>
              </a:ext>
            </a:extLst>
          </p:cNvPr>
          <p:cNvCxnSpPr>
            <a:stCxn id="126" idx="1"/>
            <a:endCxn id="128" idx="0"/>
          </p:cNvCxnSpPr>
          <p:nvPr/>
        </p:nvCxnSpPr>
        <p:spPr>
          <a:xfrm>
            <a:off x="8713512" y="1211328"/>
            <a:ext cx="0" cy="329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" name="Google Shape;128;p18">
            <a:extLst>
              <a:ext uri="{FF2B5EF4-FFF2-40B4-BE49-F238E27FC236}">
                <a16:creationId xmlns:a16="http://schemas.microsoft.com/office/drawing/2014/main" id="{506E50C0-99BC-2604-4451-FDD111A46FB6}"/>
              </a:ext>
            </a:extLst>
          </p:cNvPr>
          <p:cNvSpPr txBox="1"/>
          <p:nvPr/>
        </p:nvSpPr>
        <p:spPr>
          <a:xfrm>
            <a:off x="8529750" y="4502900"/>
            <a:ext cx="367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06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18">
            <a:extLst>
              <a:ext uri="{FF2B5EF4-FFF2-40B4-BE49-F238E27FC236}">
                <a16:creationId xmlns:a16="http://schemas.microsoft.com/office/drawing/2014/main" id="{49AFA49D-EEDD-F0B0-B2E1-6F42D5AE4383}"/>
              </a:ext>
            </a:extLst>
          </p:cNvPr>
          <p:cNvSpPr txBox="1"/>
          <p:nvPr/>
        </p:nvSpPr>
        <p:spPr>
          <a:xfrm>
            <a:off x="270800" y="74550"/>
            <a:ext cx="112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SEO</a:t>
            </a:r>
            <a:endParaRPr sz="30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0" name="Google Shape;130;p18">
            <a:extLst>
              <a:ext uri="{FF2B5EF4-FFF2-40B4-BE49-F238E27FC236}">
                <a16:creationId xmlns:a16="http://schemas.microsoft.com/office/drawing/2014/main" id="{433C61F8-9075-79FF-0CEB-C89DC97FB47F}"/>
              </a:ext>
            </a:extLst>
          </p:cNvPr>
          <p:cNvSpPr txBox="1"/>
          <p:nvPr/>
        </p:nvSpPr>
        <p:spPr>
          <a:xfrm>
            <a:off x="1831750" y="205350"/>
            <a:ext cx="4124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Posicionamiento en buscadores y auditoría técnica</a:t>
            </a:r>
            <a:endParaRPr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31" name="Google Shape;131;p18">
            <a:extLst>
              <a:ext uri="{FF2B5EF4-FFF2-40B4-BE49-F238E27FC236}">
                <a16:creationId xmlns:a16="http://schemas.microsoft.com/office/drawing/2014/main" id="{EAA421C5-EB69-550C-6455-1925A96F42F9}"/>
              </a:ext>
            </a:extLst>
          </p:cNvPr>
          <p:cNvCxnSpPr/>
          <p:nvPr/>
        </p:nvCxnSpPr>
        <p:spPr>
          <a:xfrm>
            <a:off x="1545500" y="209400"/>
            <a:ext cx="0" cy="376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" name="Google Shape;132;p18">
            <a:extLst>
              <a:ext uri="{FF2B5EF4-FFF2-40B4-BE49-F238E27FC236}">
                <a16:creationId xmlns:a16="http://schemas.microsoft.com/office/drawing/2014/main" id="{794B3425-7DFE-8F5A-9E3F-400A8E09AB6D}"/>
              </a:ext>
            </a:extLst>
          </p:cNvPr>
          <p:cNvSpPr/>
          <p:nvPr/>
        </p:nvSpPr>
        <p:spPr>
          <a:xfrm>
            <a:off x="270800" y="1064650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8">
            <a:extLst>
              <a:ext uri="{FF2B5EF4-FFF2-40B4-BE49-F238E27FC236}">
                <a16:creationId xmlns:a16="http://schemas.microsoft.com/office/drawing/2014/main" id="{DA1A126B-36A4-05DA-1299-399303E1954D}"/>
              </a:ext>
            </a:extLst>
          </p:cNvPr>
          <p:cNvSpPr/>
          <p:nvPr/>
        </p:nvSpPr>
        <p:spPr>
          <a:xfrm>
            <a:off x="3012300" y="1064650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8">
            <a:extLst>
              <a:ext uri="{FF2B5EF4-FFF2-40B4-BE49-F238E27FC236}">
                <a16:creationId xmlns:a16="http://schemas.microsoft.com/office/drawing/2014/main" id="{B0BD1804-2D7E-5708-8084-D0FC5B4D767A}"/>
              </a:ext>
            </a:extLst>
          </p:cNvPr>
          <p:cNvSpPr/>
          <p:nvPr/>
        </p:nvSpPr>
        <p:spPr>
          <a:xfrm>
            <a:off x="5753800" y="1064650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8">
            <a:extLst>
              <a:ext uri="{FF2B5EF4-FFF2-40B4-BE49-F238E27FC236}">
                <a16:creationId xmlns:a16="http://schemas.microsoft.com/office/drawing/2014/main" id="{E69E7D6C-D0C9-259E-781C-B32946781E67}"/>
              </a:ext>
            </a:extLst>
          </p:cNvPr>
          <p:cNvSpPr/>
          <p:nvPr/>
        </p:nvSpPr>
        <p:spPr>
          <a:xfrm>
            <a:off x="270800" y="2958499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8">
            <a:extLst>
              <a:ext uri="{FF2B5EF4-FFF2-40B4-BE49-F238E27FC236}">
                <a16:creationId xmlns:a16="http://schemas.microsoft.com/office/drawing/2014/main" id="{4B329134-31A7-8683-A9F8-985853092F69}"/>
              </a:ext>
            </a:extLst>
          </p:cNvPr>
          <p:cNvSpPr/>
          <p:nvPr/>
        </p:nvSpPr>
        <p:spPr>
          <a:xfrm>
            <a:off x="3012300" y="2958499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8">
            <a:extLst>
              <a:ext uri="{FF2B5EF4-FFF2-40B4-BE49-F238E27FC236}">
                <a16:creationId xmlns:a16="http://schemas.microsoft.com/office/drawing/2014/main" id="{104A9FF6-A308-AE6E-CC1D-B69B6DC63DB0}"/>
              </a:ext>
            </a:extLst>
          </p:cNvPr>
          <p:cNvSpPr txBox="1"/>
          <p:nvPr/>
        </p:nvSpPr>
        <p:spPr>
          <a:xfrm>
            <a:off x="270800" y="1064650"/>
            <a:ext cx="838800" cy="276900"/>
          </a:xfrm>
          <a:prstGeom prst="rect">
            <a:avLst/>
          </a:prstGeom>
          <a:solidFill>
            <a:srgbClr val="FFD65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YA LO TIENES</a:t>
            </a:r>
            <a:endParaRPr sz="6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p18">
            <a:extLst>
              <a:ext uri="{FF2B5EF4-FFF2-40B4-BE49-F238E27FC236}">
                <a16:creationId xmlns:a16="http://schemas.microsoft.com/office/drawing/2014/main" id="{F89FEFC4-8AF8-88F1-B530-B8A6BF97314E}"/>
              </a:ext>
            </a:extLst>
          </p:cNvPr>
          <p:cNvSpPr txBox="1"/>
          <p:nvPr/>
        </p:nvSpPr>
        <p:spPr>
          <a:xfrm>
            <a:off x="613725" y="1443450"/>
            <a:ext cx="1423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SEMRUSH GURÚ</a:t>
            </a:r>
            <a:endParaRPr sz="1200" dirty="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9" name="Google Shape;139;p18">
            <a:extLst>
              <a:ext uri="{FF2B5EF4-FFF2-40B4-BE49-F238E27FC236}">
                <a16:creationId xmlns:a16="http://schemas.microsoft.com/office/drawing/2014/main" id="{8DCB458F-EF68-0C0C-64C2-14E7514AA01D}"/>
              </a:ext>
            </a:extLst>
          </p:cNvPr>
          <p:cNvSpPr txBox="1"/>
          <p:nvPr/>
        </p:nvSpPr>
        <p:spPr>
          <a:xfrm>
            <a:off x="440625" y="1812750"/>
            <a:ext cx="16695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Análisis + Auditoría + Contenido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0" name="Google Shape;140;p18" title="Recurso 13@300x.png">
            <a:extLst>
              <a:ext uri="{FF2B5EF4-FFF2-40B4-BE49-F238E27FC236}">
                <a16:creationId xmlns:a16="http://schemas.microsoft.com/office/drawing/2014/main" id="{E0E869DF-C50F-09A4-DDC3-15997956A68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484349" y="1576900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>
            <a:extLst>
              <a:ext uri="{FF2B5EF4-FFF2-40B4-BE49-F238E27FC236}">
                <a16:creationId xmlns:a16="http://schemas.microsoft.com/office/drawing/2014/main" id="{F604D812-98F0-0066-05D3-D41B08927444}"/>
              </a:ext>
            </a:extLst>
          </p:cNvPr>
          <p:cNvSpPr txBox="1"/>
          <p:nvPr/>
        </p:nvSpPr>
        <p:spPr>
          <a:xfrm>
            <a:off x="377900" y="2138850"/>
            <a:ext cx="24423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auditorías de cliente, investigación de competidores y estrategia de contenido mensual.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7E051352-F691-2DC8-B252-3823E923F74F}"/>
              </a:ext>
            </a:extLst>
          </p:cNvPr>
          <p:cNvSpPr txBox="1"/>
          <p:nvPr/>
        </p:nvSpPr>
        <p:spPr>
          <a:xfrm>
            <a:off x="3012300" y="1064650"/>
            <a:ext cx="838800" cy="276900"/>
          </a:xfrm>
          <a:prstGeom prst="rect">
            <a:avLst/>
          </a:prstGeom>
          <a:solidFill>
            <a:srgbClr val="FFD65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YA LO TIENES</a:t>
            </a:r>
            <a:endParaRPr sz="6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18">
            <a:extLst>
              <a:ext uri="{FF2B5EF4-FFF2-40B4-BE49-F238E27FC236}">
                <a16:creationId xmlns:a16="http://schemas.microsoft.com/office/drawing/2014/main" id="{9C578D0F-A000-635F-2D21-ED4D889A6FE4}"/>
              </a:ext>
            </a:extLst>
          </p:cNvPr>
          <p:cNvSpPr txBox="1"/>
          <p:nvPr/>
        </p:nvSpPr>
        <p:spPr>
          <a:xfrm>
            <a:off x="5753800" y="1064650"/>
            <a:ext cx="838800" cy="276900"/>
          </a:xfrm>
          <a:prstGeom prst="rect">
            <a:avLst/>
          </a:prstGeom>
          <a:solidFill>
            <a:srgbClr val="FFD65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YA LO TIENES</a:t>
            </a:r>
            <a:endParaRPr sz="6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18">
            <a:extLst>
              <a:ext uri="{FF2B5EF4-FFF2-40B4-BE49-F238E27FC236}">
                <a16:creationId xmlns:a16="http://schemas.microsoft.com/office/drawing/2014/main" id="{6447DD2D-25AE-1D05-CBDB-755A33B3C434}"/>
              </a:ext>
            </a:extLst>
          </p:cNvPr>
          <p:cNvSpPr txBox="1"/>
          <p:nvPr/>
        </p:nvSpPr>
        <p:spPr>
          <a:xfrm>
            <a:off x="3012300" y="2958500"/>
            <a:ext cx="838800" cy="276900"/>
          </a:xfrm>
          <a:prstGeom prst="rect">
            <a:avLst/>
          </a:prstGeom>
          <a:solidFill>
            <a:srgbClr val="FFD65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YA LO TIENES</a:t>
            </a:r>
            <a:endParaRPr sz="6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18">
            <a:extLst>
              <a:ext uri="{FF2B5EF4-FFF2-40B4-BE49-F238E27FC236}">
                <a16:creationId xmlns:a16="http://schemas.microsoft.com/office/drawing/2014/main" id="{E047F2CF-7640-0F42-2E3B-A9FAE90E7F41}"/>
              </a:ext>
            </a:extLst>
          </p:cNvPr>
          <p:cNvSpPr txBox="1"/>
          <p:nvPr/>
        </p:nvSpPr>
        <p:spPr>
          <a:xfrm>
            <a:off x="3355225" y="1443450"/>
            <a:ext cx="183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MANGOOLS AGENCY</a:t>
            </a:r>
            <a:endParaRPr sz="120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6" name="Google Shape;146;p18">
            <a:extLst>
              <a:ext uri="{FF2B5EF4-FFF2-40B4-BE49-F238E27FC236}">
                <a16:creationId xmlns:a16="http://schemas.microsoft.com/office/drawing/2014/main" id="{B94FF3DF-F6AD-75B2-8DB7-1EAA3C90AF79}"/>
              </a:ext>
            </a:extLst>
          </p:cNvPr>
          <p:cNvSpPr txBox="1"/>
          <p:nvPr/>
        </p:nvSpPr>
        <p:spPr>
          <a:xfrm>
            <a:off x="3182125" y="1812750"/>
            <a:ext cx="16695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Keywords · Tracking · Backlinks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7" name="Google Shape;147;p18" title="Recurso 13@300x.png">
            <a:extLst>
              <a:ext uri="{FF2B5EF4-FFF2-40B4-BE49-F238E27FC236}">
                <a16:creationId xmlns:a16="http://schemas.microsoft.com/office/drawing/2014/main" id="{9F5FED36-F4B2-7A90-D66D-EBC6976A17A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3225849" y="1576900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>
            <a:extLst>
              <a:ext uri="{FF2B5EF4-FFF2-40B4-BE49-F238E27FC236}">
                <a16:creationId xmlns:a16="http://schemas.microsoft.com/office/drawing/2014/main" id="{2F784F74-66E9-939F-8396-0AF3FB4C9924}"/>
              </a:ext>
            </a:extLst>
          </p:cNvPr>
          <p:cNvSpPr txBox="1"/>
          <p:nvPr/>
        </p:nvSpPr>
        <p:spPr>
          <a:xfrm>
            <a:off x="3119400" y="2138850"/>
            <a:ext cx="23115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búsqueda de keywords diaria y seguimiento de rankings de clientes.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18">
            <a:extLst>
              <a:ext uri="{FF2B5EF4-FFF2-40B4-BE49-F238E27FC236}">
                <a16:creationId xmlns:a16="http://schemas.microsoft.com/office/drawing/2014/main" id="{7F43115E-AD1D-D8C4-0A50-AC7C5A4ED66C}"/>
              </a:ext>
            </a:extLst>
          </p:cNvPr>
          <p:cNvSpPr txBox="1"/>
          <p:nvPr/>
        </p:nvSpPr>
        <p:spPr>
          <a:xfrm>
            <a:off x="6096725" y="1443450"/>
            <a:ext cx="183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SCREAMING FROG</a:t>
            </a:r>
            <a:endParaRPr sz="120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0" name="Google Shape;150;p18">
            <a:extLst>
              <a:ext uri="{FF2B5EF4-FFF2-40B4-BE49-F238E27FC236}">
                <a16:creationId xmlns:a16="http://schemas.microsoft.com/office/drawing/2014/main" id="{1856C4D2-C538-A901-D8E6-8D3CFEAE0B71}"/>
              </a:ext>
            </a:extLst>
          </p:cNvPr>
          <p:cNvSpPr txBox="1"/>
          <p:nvPr/>
        </p:nvSpPr>
        <p:spPr>
          <a:xfrm>
            <a:off x="5923625" y="1812750"/>
            <a:ext cx="16695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Auditoría técnica profunda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p18" title="Recurso 13@300x.png">
            <a:extLst>
              <a:ext uri="{FF2B5EF4-FFF2-40B4-BE49-F238E27FC236}">
                <a16:creationId xmlns:a16="http://schemas.microsoft.com/office/drawing/2014/main" id="{F204A555-7049-BBA8-143E-B8D4C36BBE6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5967349" y="1576900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>
            <a:extLst>
              <a:ext uri="{FF2B5EF4-FFF2-40B4-BE49-F238E27FC236}">
                <a16:creationId xmlns:a16="http://schemas.microsoft.com/office/drawing/2014/main" id="{1A1EACB7-09E4-2829-113A-719B29A7F55B}"/>
              </a:ext>
            </a:extLst>
          </p:cNvPr>
          <p:cNvSpPr txBox="1"/>
          <p:nvPr/>
        </p:nvSpPr>
        <p:spPr>
          <a:xfrm>
            <a:off x="5860900" y="2138850"/>
            <a:ext cx="21036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auditorías técnicas antes de lanzar o migrar un sitio web de cliente.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p18">
            <a:extLst>
              <a:ext uri="{FF2B5EF4-FFF2-40B4-BE49-F238E27FC236}">
                <a16:creationId xmlns:a16="http://schemas.microsoft.com/office/drawing/2014/main" id="{A9B88B3B-69E4-D176-15CE-811BEC3FCED9}"/>
              </a:ext>
            </a:extLst>
          </p:cNvPr>
          <p:cNvSpPr txBox="1"/>
          <p:nvPr/>
        </p:nvSpPr>
        <p:spPr>
          <a:xfrm>
            <a:off x="270800" y="2958500"/>
            <a:ext cx="1002300" cy="2769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 INDEPENDIENTE</a:t>
            </a:r>
            <a:endParaRPr sz="6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18">
            <a:extLst>
              <a:ext uri="{FF2B5EF4-FFF2-40B4-BE49-F238E27FC236}">
                <a16:creationId xmlns:a16="http://schemas.microsoft.com/office/drawing/2014/main" id="{C9F20240-071D-1F4D-4089-B356F5E41AF1}"/>
              </a:ext>
            </a:extLst>
          </p:cNvPr>
          <p:cNvSpPr txBox="1"/>
          <p:nvPr/>
        </p:nvSpPr>
        <p:spPr>
          <a:xfrm>
            <a:off x="613725" y="3352550"/>
            <a:ext cx="1669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PERPLEXITY AI</a:t>
            </a:r>
            <a:endParaRPr sz="120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5" name="Google Shape;155;p18">
            <a:extLst>
              <a:ext uri="{FF2B5EF4-FFF2-40B4-BE49-F238E27FC236}">
                <a16:creationId xmlns:a16="http://schemas.microsoft.com/office/drawing/2014/main" id="{339D23C0-9DDE-BF2C-A742-2B03B3C812B0}"/>
              </a:ext>
            </a:extLst>
          </p:cNvPr>
          <p:cNvSpPr txBox="1"/>
          <p:nvPr/>
        </p:nvSpPr>
        <p:spPr>
          <a:xfrm>
            <a:off x="440625" y="3721850"/>
            <a:ext cx="14235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Research en tiempo real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6" name="Google Shape;156;p18" title="Recurso 13@300x.png">
            <a:extLst>
              <a:ext uri="{FF2B5EF4-FFF2-40B4-BE49-F238E27FC236}">
                <a16:creationId xmlns:a16="http://schemas.microsoft.com/office/drawing/2014/main" id="{D4D88DFE-1F8F-052F-63E7-149AEF3FD46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484349" y="3486000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>
            <a:extLst>
              <a:ext uri="{FF2B5EF4-FFF2-40B4-BE49-F238E27FC236}">
                <a16:creationId xmlns:a16="http://schemas.microsoft.com/office/drawing/2014/main" id="{949794B3-A103-B877-548F-3B19BA07FBA2}"/>
              </a:ext>
            </a:extLst>
          </p:cNvPr>
          <p:cNvSpPr txBox="1"/>
          <p:nvPr/>
        </p:nvSpPr>
        <p:spPr>
          <a:xfrm>
            <a:off x="377900" y="4047950"/>
            <a:ext cx="24423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Antes de escribir cualquier pieza de contenido o brief de cliente. Reemplaza horas de búsqueda.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18">
            <a:extLst>
              <a:ext uri="{FF2B5EF4-FFF2-40B4-BE49-F238E27FC236}">
                <a16:creationId xmlns:a16="http://schemas.microsoft.com/office/drawing/2014/main" id="{58259EFB-2103-2514-D248-05D426D5BF83}"/>
              </a:ext>
            </a:extLst>
          </p:cNvPr>
          <p:cNvSpPr txBox="1"/>
          <p:nvPr/>
        </p:nvSpPr>
        <p:spPr>
          <a:xfrm>
            <a:off x="3354950" y="3352550"/>
            <a:ext cx="2001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ANSWER THE PUBLIC</a:t>
            </a:r>
            <a:endParaRPr sz="130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9" name="Google Shape;159;p18">
            <a:extLst>
              <a:ext uri="{FF2B5EF4-FFF2-40B4-BE49-F238E27FC236}">
                <a16:creationId xmlns:a16="http://schemas.microsoft.com/office/drawing/2014/main" id="{14EA05E1-BE13-56A9-CE10-721C43E28718}"/>
              </a:ext>
            </a:extLst>
          </p:cNvPr>
          <p:cNvSpPr txBox="1"/>
          <p:nvPr/>
        </p:nvSpPr>
        <p:spPr>
          <a:xfrm>
            <a:off x="3181850" y="3721850"/>
            <a:ext cx="13167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Ideas de contenido SEO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0" name="Google Shape;160;p18" title="Recurso 13@300x.png">
            <a:extLst>
              <a:ext uri="{FF2B5EF4-FFF2-40B4-BE49-F238E27FC236}">
                <a16:creationId xmlns:a16="http://schemas.microsoft.com/office/drawing/2014/main" id="{FB6354E0-2618-31C9-AF60-9522BD25B72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3225574" y="3486000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A013C134-9D26-EAFA-6D39-81835861FA12}"/>
              </a:ext>
            </a:extLst>
          </p:cNvPr>
          <p:cNvSpPr txBox="1"/>
          <p:nvPr/>
        </p:nvSpPr>
        <p:spPr>
          <a:xfrm>
            <a:off x="3119125" y="4047950"/>
            <a:ext cx="20016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 planificar el calendario editorial de un cliente nuevo.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2" name="Google Shape;162;p18">
            <a:extLst>
              <a:ext uri="{FF2B5EF4-FFF2-40B4-BE49-F238E27FC236}">
                <a16:creationId xmlns:a16="http://schemas.microsoft.com/office/drawing/2014/main" id="{CA2B0EF0-ED97-A343-E830-AFE7C4E5FDEF}"/>
              </a:ext>
            </a:extLst>
            <a:hlinkClick r:id="rId6"/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538725" y="1167500"/>
            <a:ext cx="129375" cy="1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>
            <a:extLst>
              <a:ext uri="{FF2B5EF4-FFF2-40B4-BE49-F238E27FC236}">
                <a16:creationId xmlns:a16="http://schemas.microsoft.com/office/drawing/2014/main" id="{C1E90348-9287-0EFC-1A9D-C72A1310B9E6}"/>
              </a:ext>
            </a:extLst>
            <a:hlinkClick r:id="rId7"/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01525" y="1167500"/>
            <a:ext cx="129375" cy="1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>
            <a:extLst>
              <a:ext uri="{FF2B5EF4-FFF2-40B4-BE49-F238E27FC236}">
                <a16:creationId xmlns:a16="http://schemas.microsoft.com/office/drawing/2014/main" id="{0FE7ACAF-2517-B8F2-C361-1369D18B6AA6}"/>
              </a:ext>
            </a:extLst>
            <a:hlinkClick r:id="rId8"/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064325" y="1167500"/>
            <a:ext cx="129375" cy="1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>
            <a:extLst>
              <a:ext uri="{FF2B5EF4-FFF2-40B4-BE49-F238E27FC236}">
                <a16:creationId xmlns:a16="http://schemas.microsoft.com/office/drawing/2014/main" id="{BF89A703-D4DC-239E-22FF-F01624117853}"/>
              </a:ext>
            </a:extLst>
            <a:hlinkClick r:id="rId9"/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538725" y="3032263"/>
            <a:ext cx="129375" cy="1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>
            <a:extLst>
              <a:ext uri="{FF2B5EF4-FFF2-40B4-BE49-F238E27FC236}">
                <a16:creationId xmlns:a16="http://schemas.microsoft.com/office/drawing/2014/main" id="{409EFB26-DE82-1C49-2D46-A3A1C1621165}"/>
              </a:ext>
            </a:extLst>
            <a:hlinkClick r:id="rId10"/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01525" y="3032263"/>
            <a:ext cx="129375" cy="129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3736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/>
          <p:nvPr/>
        </p:nvSpPr>
        <p:spPr>
          <a:xfrm rot="10800000" flipH="1">
            <a:off x="0" y="125"/>
            <a:ext cx="8279400" cy="816300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270800" y="4736375"/>
            <a:ext cx="254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es-419" sz="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PROPIEDAD GRÁFICA E INTELECTUAL. TODOS LOS DERECHOS RESERVADOS </a:t>
            </a:r>
            <a:r>
              <a:rPr lang="es-419" sz="500" b="0" i="0" u="none" strike="noStrike" cap="none">
                <a:solidFill>
                  <a:srgbClr val="202124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®</a:t>
            </a:r>
            <a:r>
              <a:rPr lang="es-419" sz="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1000" b="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73" name="Google Shape;17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226641" y="643185"/>
            <a:ext cx="973743" cy="1625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19"/>
          <p:cNvCxnSpPr>
            <a:stCxn id="173" idx="1"/>
            <a:endCxn id="175" idx="0"/>
          </p:cNvCxnSpPr>
          <p:nvPr/>
        </p:nvCxnSpPr>
        <p:spPr>
          <a:xfrm>
            <a:off x="8713512" y="1211328"/>
            <a:ext cx="0" cy="329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5" name="Google Shape;175;p19"/>
          <p:cNvSpPr txBox="1"/>
          <p:nvPr/>
        </p:nvSpPr>
        <p:spPr>
          <a:xfrm>
            <a:off x="8529750" y="4502900"/>
            <a:ext cx="367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07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270800" y="74550"/>
            <a:ext cx="1492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VIDEO</a:t>
            </a:r>
            <a:endParaRPr sz="3000" dirty="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2097950" y="205350"/>
            <a:ext cx="4124100" cy="41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Creación, edición de video con IA</a:t>
            </a:r>
            <a:endParaRPr sz="13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78" name="Google Shape;178;p19"/>
          <p:cNvCxnSpPr/>
          <p:nvPr/>
        </p:nvCxnSpPr>
        <p:spPr>
          <a:xfrm>
            <a:off x="1811700" y="209400"/>
            <a:ext cx="0" cy="376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" name="Google Shape;179;p19"/>
          <p:cNvSpPr/>
          <p:nvPr/>
        </p:nvSpPr>
        <p:spPr>
          <a:xfrm>
            <a:off x="270800" y="1064650"/>
            <a:ext cx="2525700" cy="1626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FF83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3012300" y="1064650"/>
            <a:ext cx="2525700" cy="1626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FF83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753800" y="1064650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270800" y="2958499"/>
            <a:ext cx="2525700" cy="1626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FF83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3012300" y="2958499"/>
            <a:ext cx="2525700" cy="1626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FF83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270800" y="1064650"/>
            <a:ext cx="838800" cy="276900"/>
          </a:xfrm>
          <a:prstGeom prst="rect">
            <a:avLst/>
          </a:prstGeom>
          <a:solidFill>
            <a:srgbClr val="FFD65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YA LO TIENES</a:t>
            </a:r>
            <a:endParaRPr sz="6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613725" y="1383919"/>
            <a:ext cx="1423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INVIDEO AI</a:t>
            </a:r>
            <a:endParaRPr sz="1200" dirty="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440625" y="1753219"/>
            <a:ext cx="13710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Texto → Video completo</a:t>
            </a:r>
            <a:endParaRPr sz="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7" name="Google Shape;187;p19" title="Recurso 13@300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484349" y="1517368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377900" y="2079319"/>
            <a:ext cx="24423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crear videos de redes sociales o </a:t>
            </a:r>
            <a:r>
              <a:rPr lang="es-419" sz="7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explainers</a:t>
            </a: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desde un artículo o texto en minutos. Tiene generador de voz en off incluido.</a:t>
            </a:r>
            <a:endParaRPr sz="7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3012300" y="1064650"/>
            <a:ext cx="838800" cy="276900"/>
          </a:xfrm>
          <a:prstGeom prst="rect">
            <a:avLst/>
          </a:prstGeom>
          <a:solidFill>
            <a:srgbClr val="FFD65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YA LO TIENES</a:t>
            </a:r>
            <a:endParaRPr sz="6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5753800" y="1064650"/>
            <a:ext cx="838800" cy="276900"/>
          </a:xfrm>
          <a:prstGeom prst="rect">
            <a:avLst/>
          </a:prstGeom>
          <a:solidFill>
            <a:srgbClr val="FFD65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YA LO TIENES</a:t>
            </a:r>
            <a:endParaRPr sz="6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3012300" y="2958500"/>
            <a:ext cx="838800" cy="276900"/>
          </a:xfrm>
          <a:prstGeom prst="rect">
            <a:avLst/>
          </a:prstGeom>
          <a:solidFill>
            <a:srgbClr val="FFD65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YA LO TIENES</a:t>
            </a:r>
            <a:endParaRPr sz="6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3355225" y="1383919"/>
            <a:ext cx="183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SORA (CHATGPT)</a:t>
            </a:r>
            <a:endParaRPr sz="120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3182125" y="1753219"/>
            <a:ext cx="16695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Generación de video con IA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4" name="Google Shape;194;p19" title="Recurso 13@300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3225849" y="1517368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3119400" y="2079319"/>
            <a:ext cx="24186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crear clips de marca visualmente impactantes desde una descripción de texto. Disponible via ChatGPT Plus incluido en la conjunta.</a:t>
            </a:r>
            <a:endParaRPr sz="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6096725" y="1383919"/>
            <a:ext cx="183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MAGISTO PRO</a:t>
            </a:r>
            <a:endParaRPr sz="120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5923625" y="1753219"/>
            <a:ext cx="16695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Edición automática + Vimeo Pro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8" name="Google Shape;198;p19" title="Recurso 13@300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967349" y="1517368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5860900" y="2079319"/>
            <a:ext cx="21036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editar videos de cliente con estilos automáticos. Incluye Vimeo Pro para hosting profesional sin marca de agua.</a:t>
            </a:r>
            <a:endParaRPr sz="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270800" y="2958500"/>
            <a:ext cx="1002300" cy="2769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 INDEPENDIENTE</a:t>
            </a:r>
            <a:endParaRPr sz="6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613725" y="3293019"/>
            <a:ext cx="137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OPUS CLIP</a:t>
            </a:r>
            <a:endParaRPr sz="1200" dirty="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440625" y="3662319"/>
            <a:ext cx="14235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Repurposing automático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3" name="Google Shape;203;p19" title="Recurso 13@300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484349" y="3426468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377900" y="3988419"/>
            <a:ext cx="24423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Convierte un video largo en clips cortos virales. Clave para agencias que producen contenido para múltiples plataformas. Plan gratis disponible.</a:t>
            </a:r>
            <a:endParaRPr sz="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3354950" y="3293019"/>
            <a:ext cx="20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FREEPIK VIDEO IA</a:t>
            </a:r>
            <a:endParaRPr sz="120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181850" y="3662319"/>
            <a:ext cx="15663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Texto/imagen → video corto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7" name="Google Shape;207;p19" title="Recurso 13@300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3225574" y="3426468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3119125" y="3988419"/>
            <a:ext cx="21810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generar clips cortos de producto o campaña desde texto. Ya incluido en tu plan Freepik de SEO Conjuntas.</a:t>
            </a:r>
            <a:endParaRPr sz="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5771025" y="2938874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113675" y="3273394"/>
            <a:ext cx="20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ELEVENLABS</a:t>
            </a:r>
            <a:endParaRPr sz="120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5940575" y="3642694"/>
            <a:ext cx="13167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Voz en off fotorrealista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2" name="Google Shape;212;p19" title="Recurso 13@300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984299" y="3406843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5877850" y="3968794"/>
            <a:ext cx="22374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locuciones y voice-overs de calidad profesional. Clona voces o elige entre 200+ voces en español. Plan gratuito con 10K caracteres/mes.</a:t>
            </a:r>
            <a:endParaRPr sz="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5771025" y="2940050"/>
            <a:ext cx="1002300" cy="2769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 INDEPENDIENTE</a:t>
            </a:r>
            <a:endParaRPr sz="6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5" name="Google Shape;215;p19">
            <a:hlinkClick r:id="rId5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38725" y="1167500"/>
            <a:ext cx="129375" cy="1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>
            <a:hlinkClick r:id="rId11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01525" y="1167500"/>
            <a:ext cx="129375" cy="1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>
            <a:hlinkClick r:id="rId6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64325" y="1167500"/>
            <a:ext cx="129375" cy="1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>
            <a:hlinkClick r:id="rId7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38725" y="3032263"/>
            <a:ext cx="129375" cy="1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>
            <a:hlinkClick r:id="rId8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01525" y="3032263"/>
            <a:ext cx="129375" cy="1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64325" y="3013813"/>
            <a:ext cx="129375" cy="12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>
          <a:extLst>
            <a:ext uri="{FF2B5EF4-FFF2-40B4-BE49-F238E27FC236}">
              <a16:creationId xmlns:a16="http://schemas.microsoft.com/office/drawing/2014/main" id="{18ABA3DD-8F26-D241-C8EF-6063A9EA3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">
            <a:extLst>
              <a:ext uri="{FF2B5EF4-FFF2-40B4-BE49-F238E27FC236}">
                <a16:creationId xmlns:a16="http://schemas.microsoft.com/office/drawing/2014/main" id="{EA42892C-2FA1-B07E-057E-5F5647A47727}"/>
              </a:ext>
            </a:extLst>
          </p:cNvPr>
          <p:cNvSpPr txBox="1"/>
          <p:nvPr/>
        </p:nvSpPr>
        <p:spPr>
          <a:xfrm>
            <a:off x="270800" y="4736375"/>
            <a:ext cx="254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es-419" sz="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PROPIEDAD GRÁFICA E INTELECTUAL. TODOS LOS DERECHOS RESERVADOS </a:t>
            </a:r>
            <a:r>
              <a:rPr lang="es-419" sz="500" b="0" i="0" u="none" strike="noStrike" cap="none">
                <a:solidFill>
                  <a:srgbClr val="202124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®</a:t>
            </a:r>
            <a:r>
              <a:rPr lang="es-419" sz="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1000" b="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81" name="Google Shape;281;p21">
            <a:extLst>
              <a:ext uri="{FF2B5EF4-FFF2-40B4-BE49-F238E27FC236}">
                <a16:creationId xmlns:a16="http://schemas.microsoft.com/office/drawing/2014/main" id="{70EFEC92-74CA-8782-8B35-7262AE5E77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226641" y="643185"/>
            <a:ext cx="973743" cy="1625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2" name="Google Shape;282;p21">
            <a:extLst>
              <a:ext uri="{FF2B5EF4-FFF2-40B4-BE49-F238E27FC236}">
                <a16:creationId xmlns:a16="http://schemas.microsoft.com/office/drawing/2014/main" id="{F68B84C1-F2B5-5B86-4479-25E36699C508}"/>
              </a:ext>
            </a:extLst>
          </p:cNvPr>
          <p:cNvCxnSpPr>
            <a:stCxn id="281" idx="1"/>
            <a:endCxn id="283" idx="0"/>
          </p:cNvCxnSpPr>
          <p:nvPr/>
        </p:nvCxnSpPr>
        <p:spPr>
          <a:xfrm>
            <a:off x="8713512" y="1211328"/>
            <a:ext cx="0" cy="329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3" name="Google Shape;283;p21">
            <a:extLst>
              <a:ext uri="{FF2B5EF4-FFF2-40B4-BE49-F238E27FC236}">
                <a16:creationId xmlns:a16="http://schemas.microsoft.com/office/drawing/2014/main" id="{FF8C5DDC-DBD9-8BDB-63D2-3497DE5FC2A5}"/>
              </a:ext>
            </a:extLst>
          </p:cNvPr>
          <p:cNvSpPr txBox="1"/>
          <p:nvPr/>
        </p:nvSpPr>
        <p:spPr>
          <a:xfrm>
            <a:off x="8529750" y="4502900"/>
            <a:ext cx="367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09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Google Shape;171;p19">
            <a:extLst>
              <a:ext uri="{FF2B5EF4-FFF2-40B4-BE49-F238E27FC236}">
                <a16:creationId xmlns:a16="http://schemas.microsoft.com/office/drawing/2014/main" id="{A7A0EF5A-BB09-71FA-4772-C55199BD5EC7}"/>
              </a:ext>
            </a:extLst>
          </p:cNvPr>
          <p:cNvSpPr/>
          <p:nvPr/>
        </p:nvSpPr>
        <p:spPr>
          <a:xfrm rot="10800000" flipH="1">
            <a:off x="0" y="125"/>
            <a:ext cx="8279400" cy="816300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76;p19">
            <a:extLst>
              <a:ext uri="{FF2B5EF4-FFF2-40B4-BE49-F238E27FC236}">
                <a16:creationId xmlns:a16="http://schemas.microsoft.com/office/drawing/2014/main" id="{06853623-DD6C-BBB5-4FAD-7DC6859FDE67}"/>
              </a:ext>
            </a:extLst>
          </p:cNvPr>
          <p:cNvSpPr txBox="1"/>
          <p:nvPr/>
        </p:nvSpPr>
        <p:spPr>
          <a:xfrm>
            <a:off x="169333" y="119706"/>
            <a:ext cx="1642365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60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EDICIÓN</a:t>
            </a:r>
          </a:p>
        </p:txBody>
      </p:sp>
      <p:sp>
        <p:nvSpPr>
          <p:cNvPr id="8" name="Google Shape;177;p19">
            <a:extLst>
              <a:ext uri="{FF2B5EF4-FFF2-40B4-BE49-F238E27FC236}">
                <a16:creationId xmlns:a16="http://schemas.microsoft.com/office/drawing/2014/main" id="{AA7B17B8-09E7-82EA-E81C-2676C105AFC4}"/>
              </a:ext>
            </a:extLst>
          </p:cNvPr>
          <p:cNvSpPr txBox="1"/>
          <p:nvPr/>
        </p:nvSpPr>
        <p:spPr>
          <a:xfrm>
            <a:off x="2097950" y="205350"/>
            <a:ext cx="4124100" cy="41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Edición de video con IA</a:t>
            </a:r>
            <a:endParaRPr sz="13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" name="Google Shape;178;p19">
            <a:extLst>
              <a:ext uri="{FF2B5EF4-FFF2-40B4-BE49-F238E27FC236}">
                <a16:creationId xmlns:a16="http://schemas.microsoft.com/office/drawing/2014/main" id="{F2022C69-8B2D-08D3-0F83-31BA5DC94C14}"/>
              </a:ext>
            </a:extLst>
          </p:cNvPr>
          <p:cNvCxnSpPr/>
          <p:nvPr/>
        </p:nvCxnSpPr>
        <p:spPr>
          <a:xfrm>
            <a:off x="1811700" y="209400"/>
            <a:ext cx="0" cy="376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82;p19">
            <a:extLst>
              <a:ext uri="{FF2B5EF4-FFF2-40B4-BE49-F238E27FC236}">
                <a16:creationId xmlns:a16="http://schemas.microsoft.com/office/drawing/2014/main" id="{5ABA3C50-4ECA-9B51-CF06-D4728F78ECA8}"/>
              </a:ext>
            </a:extLst>
          </p:cNvPr>
          <p:cNvSpPr/>
          <p:nvPr/>
        </p:nvSpPr>
        <p:spPr>
          <a:xfrm>
            <a:off x="270800" y="1044230"/>
            <a:ext cx="2525700" cy="1626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FF83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00;p19">
            <a:extLst>
              <a:ext uri="{FF2B5EF4-FFF2-40B4-BE49-F238E27FC236}">
                <a16:creationId xmlns:a16="http://schemas.microsoft.com/office/drawing/2014/main" id="{B0C91B9E-1FE8-A77E-924D-199965B2A517}"/>
              </a:ext>
            </a:extLst>
          </p:cNvPr>
          <p:cNvSpPr txBox="1"/>
          <p:nvPr/>
        </p:nvSpPr>
        <p:spPr>
          <a:xfrm>
            <a:off x="270800" y="1044231"/>
            <a:ext cx="1002300" cy="2769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 INDEPENDIENTE</a:t>
            </a:r>
            <a:endParaRPr sz="6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" name="Google Shape;201;p19">
            <a:extLst>
              <a:ext uri="{FF2B5EF4-FFF2-40B4-BE49-F238E27FC236}">
                <a16:creationId xmlns:a16="http://schemas.microsoft.com/office/drawing/2014/main" id="{9E1C0B90-F1F0-9AAF-181A-6F2B86C23473}"/>
              </a:ext>
            </a:extLst>
          </p:cNvPr>
          <p:cNvSpPr txBox="1"/>
          <p:nvPr/>
        </p:nvSpPr>
        <p:spPr>
          <a:xfrm>
            <a:off x="613725" y="1378750"/>
            <a:ext cx="1371000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PE" sz="1200" dirty="0">
                <a:latin typeface="Merriweather" panose="00000500000000000000" pitchFamily="2" charset="0"/>
              </a:rPr>
              <a:t>HIGGSFIELD AI</a:t>
            </a:r>
            <a:endParaRPr sz="1200" dirty="0">
              <a:solidFill>
                <a:srgbClr val="1A1A2E"/>
              </a:solidFill>
              <a:latin typeface="Merriweather" panose="00000500000000000000" pitchFamily="2" charset="0"/>
              <a:ea typeface="Merriweather"/>
              <a:cs typeface="Merriweather"/>
              <a:sym typeface="Merriweather"/>
            </a:endParaRPr>
          </a:p>
        </p:txBody>
      </p:sp>
      <p:sp>
        <p:nvSpPr>
          <p:cNvPr id="17" name="Google Shape;202;p19">
            <a:extLst>
              <a:ext uri="{FF2B5EF4-FFF2-40B4-BE49-F238E27FC236}">
                <a16:creationId xmlns:a16="http://schemas.microsoft.com/office/drawing/2014/main" id="{442D03C3-142E-10F1-30ED-27268C4202D3}"/>
              </a:ext>
            </a:extLst>
          </p:cNvPr>
          <p:cNvSpPr txBox="1"/>
          <p:nvPr/>
        </p:nvSpPr>
        <p:spPr>
          <a:xfrm>
            <a:off x="440624" y="1748050"/>
            <a:ext cx="2227475" cy="308516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PE" sz="700" dirty="0">
                <a:latin typeface="Helvetica Neue" panose="020B0604020202020204" charset="0"/>
              </a:rPr>
              <a:t>Texto/Imagen → Video cinemático y avatares </a:t>
            </a:r>
            <a:endParaRPr sz="700" dirty="0">
              <a:solidFill>
                <a:schemeClr val="dk1"/>
              </a:solidFill>
              <a:latin typeface="Helvetica Neue" panose="020B0604020202020204" charset="0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" name="Google Shape;203;p19" title="Recurso 13@300x.png">
            <a:extLst>
              <a:ext uri="{FF2B5EF4-FFF2-40B4-BE49-F238E27FC236}">
                <a16:creationId xmlns:a16="http://schemas.microsoft.com/office/drawing/2014/main" id="{33557D7C-44DC-F02B-93FA-A36E88E653D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484349" y="1512199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04;p19">
            <a:extLst>
              <a:ext uri="{FF2B5EF4-FFF2-40B4-BE49-F238E27FC236}">
                <a16:creationId xmlns:a16="http://schemas.microsoft.com/office/drawing/2014/main" id="{39A265BF-AE2D-E828-5B6D-9658CCA43C0A}"/>
              </a:ext>
            </a:extLst>
          </p:cNvPr>
          <p:cNvSpPr txBox="1"/>
          <p:nvPr/>
        </p:nvSpPr>
        <p:spPr>
          <a:xfrm>
            <a:off x="370280" y="2020810"/>
            <a:ext cx="244230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PE" sz="700" dirty="0">
                <a:latin typeface="Helvetica Neue" panose="020B0604020202020204" charset="0"/>
              </a:rPr>
              <a:t>Una suite todo en uno que genera clips de video hiperrealistas, permite controlar los ángulos de cámara como un director de cine, clonar voces y mantener la consistencia de los rostros en diferentes escenas.</a:t>
            </a:r>
            <a:endParaRPr lang="es-419" sz="700" b="1" dirty="0">
              <a:solidFill>
                <a:srgbClr val="FF833E"/>
              </a:solidFill>
              <a:latin typeface="Helvetica Neue" panose="020B0604020202020204" charset="0"/>
              <a:ea typeface="Montserrat SemiBold"/>
              <a:cs typeface="Montserrat SemiBold"/>
              <a:hlinkClick r:id="rId5"/>
            </a:endParaRPr>
          </a:p>
        </p:txBody>
      </p:sp>
      <p:pic>
        <p:nvPicPr>
          <p:cNvPr id="23" name="Google Shape;218;p19">
            <a:extLst>
              <a:ext uri="{FF2B5EF4-FFF2-40B4-BE49-F238E27FC236}">
                <a16:creationId xmlns:a16="http://schemas.microsoft.com/office/drawing/2014/main" id="{B494B5DA-2742-A1D7-0F1C-7F07ABC19BA2}"/>
              </a:ext>
            </a:extLst>
            <a:hlinkClick r:id="rId7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8725" y="1117994"/>
            <a:ext cx="129375" cy="129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182;p19">
            <a:extLst>
              <a:ext uri="{FF2B5EF4-FFF2-40B4-BE49-F238E27FC236}">
                <a16:creationId xmlns:a16="http://schemas.microsoft.com/office/drawing/2014/main" id="{00981284-0295-9C65-EEC5-C08C46BB0580}"/>
              </a:ext>
            </a:extLst>
          </p:cNvPr>
          <p:cNvSpPr/>
          <p:nvPr/>
        </p:nvSpPr>
        <p:spPr>
          <a:xfrm>
            <a:off x="3029240" y="1044230"/>
            <a:ext cx="2525700" cy="1626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FF83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00;p19">
            <a:extLst>
              <a:ext uri="{FF2B5EF4-FFF2-40B4-BE49-F238E27FC236}">
                <a16:creationId xmlns:a16="http://schemas.microsoft.com/office/drawing/2014/main" id="{88BAE407-970E-9F93-1A76-F4E24D87E574}"/>
              </a:ext>
            </a:extLst>
          </p:cNvPr>
          <p:cNvSpPr txBox="1"/>
          <p:nvPr/>
        </p:nvSpPr>
        <p:spPr>
          <a:xfrm>
            <a:off x="3029240" y="1044231"/>
            <a:ext cx="1002300" cy="2769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 INDEPENDIENTE</a:t>
            </a:r>
            <a:endParaRPr sz="6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" name="Google Shape;201;p19">
            <a:extLst>
              <a:ext uri="{FF2B5EF4-FFF2-40B4-BE49-F238E27FC236}">
                <a16:creationId xmlns:a16="http://schemas.microsoft.com/office/drawing/2014/main" id="{4CC595FB-28E2-E58A-6B7D-89AC241D32EE}"/>
              </a:ext>
            </a:extLst>
          </p:cNvPr>
          <p:cNvSpPr txBox="1"/>
          <p:nvPr/>
        </p:nvSpPr>
        <p:spPr>
          <a:xfrm>
            <a:off x="3372165" y="1378750"/>
            <a:ext cx="13710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PE" sz="1200" dirty="0">
                <a:latin typeface="Merriweather" panose="00000500000000000000" pitchFamily="2" charset="0"/>
              </a:rPr>
              <a:t>SUBMAGIC</a:t>
            </a:r>
          </a:p>
        </p:txBody>
      </p:sp>
      <p:sp>
        <p:nvSpPr>
          <p:cNvPr id="31" name="Google Shape;202;p19">
            <a:extLst>
              <a:ext uri="{FF2B5EF4-FFF2-40B4-BE49-F238E27FC236}">
                <a16:creationId xmlns:a16="http://schemas.microsoft.com/office/drawing/2014/main" id="{2A975530-4530-8007-AC23-F22A374E4DDE}"/>
              </a:ext>
            </a:extLst>
          </p:cNvPr>
          <p:cNvSpPr txBox="1"/>
          <p:nvPr/>
        </p:nvSpPr>
        <p:spPr>
          <a:xfrm>
            <a:off x="3199064" y="1748050"/>
            <a:ext cx="2227475" cy="308516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PE" sz="700" dirty="0">
                <a:latin typeface="Helvetica Neue" panose="020B0604020202020204" charset="0"/>
              </a:rPr>
              <a:t>Video corto → Subtítulos y dinamismo visual</a:t>
            </a:r>
            <a:endParaRPr sz="700" dirty="0">
              <a:solidFill>
                <a:schemeClr val="dk1"/>
              </a:solidFill>
              <a:latin typeface="Helvetica Neue" panose="020B0604020202020204" charset="0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03;p19" title="Recurso 13@300x.png">
            <a:extLst>
              <a:ext uri="{FF2B5EF4-FFF2-40B4-BE49-F238E27FC236}">
                <a16:creationId xmlns:a16="http://schemas.microsoft.com/office/drawing/2014/main" id="{826AAD53-37F0-D206-DAEC-C04C8AACB8B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3242789" y="1512199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204;p19">
            <a:extLst>
              <a:ext uri="{FF2B5EF4-FFF2-40B4-BE49-F238E27FC236}">
                <a16:creationId xmlns:a16="http://schemas.microsoft.com/office/drawing/2014/main" id="{8FC5D6ED-B921-C7FB-98D8-FFB5A94F41F1}"/>
              </a:ext>
            </a:extLst>
          </p:cNvPr>
          <p:cNvSpPr txBox="1"/>
          <p:nvPr/>
        </p:nvSpPr>
        <p:spPr>
          <a:xfrm>
            <a:off x="3128720" y="2020810"/>
            <a:ext cx="244230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PE" sz="700" dirty="0">
                <a:latin typeface="Helvetica Neue" panose="020B0604020202020204" charset="0"/>
              </a:rPr>
              <a:t>Para añadir subtítulos dinámicos estilo </a:t>
            </a:r>
            <a:r>
              <a:rPr lang="es-PE" sz="700" dirty="0" err="1">
                <a:latin typeface="Helvetica Neue" panose="020B0604020202020204" charset="0"/>
              </a:rPr>
              <a:t>influencer</a:t>
            </a:r>
            <a:r>
              <a:rPr lang="es-PE" sz="700" dirty="0">
                <a:latin typeface="Helvetica Neue" panose="020B0604020202020204" charset="0"/>
              </a:rPr>
              <a:t>, emojis automáticos y efectos de sonido en segundos. Ideal si ya tienes el video y quieres que se vea viral de inmediato.</a:t>
            </a:r>
            <a:endParaRPr lang="es-419" sz="700" b="1" dirty="0">
              <a:solidFill>
                <a:srgbClr val="FF833E"/>
              </a:solidFill>
              <a:latin typeface="Helvetica Neue" panose="020B0604020202020204" charset="0"/>
              <a:ea typeface="Montserrat SemiBold"/>
              <a:cs typeface="Montserrat SemiBold"/>
              <a:hlinkClick r:id="rId5"/>
            </a:endParaRPr>
          </a:p>
        </p:txBody>
      </p:sp>
      <p:pic>
        <p:nvPicPr>
          <p:cNvPr id="37" name="Google Shape;218;p19">
            <a:extLst>
              <a:ext uri="{FF2B5EF4-FFF2-40B4-BE49-F238E27FC236}">
                <a16:creationId xmlns:a16="http://schemas.microsoft.com/office/drawing/2014/main" id="{5CD60D16-E8C3-5C52-C3E0-E0177ECE25D9}"/>
              </a:ext>
            </a:extLst>
            <a:hlinkClick r:id="rId8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7165" y="1117994"/>
            <a:ext cx="129375" cy="1293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182;p19">
            <a:extLst>
              <a:ext uri="{FF2B5EF4-FFF2-40B4-BE49-F238E27FC236}">
                <a16:creationId xmlns:a16="http://schemas.microsoft.com/office/drawing/2014/main" id="{E3E51659-D24F-5D16-9254-7C74E74DAB26}"/>
              </a:ext>
            </a:extLst>
          </p:cNvPr>
          <p:cNvSpPr/>
          <p:nvPr/>
        </p:nvSpPr>
        <p:spPr>
          <a:xfrm>
            <a:off x="5766389" y="1054721"/>
            <a:ext cx="2525700" cy="1626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FF83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00;p19">
            <a:extLst>
              <a:ext uri="{FF2B5EF4-FFF2-40B4-BE49-F238E27FC236}">
                <a16:creationId xmlns:a16="http://schemas.microsoft.com/office/drawing/2014/main" id="{CDD78966-647A-0218-643B-1F950563A026}"/>
              </a:ext>
            </a:extLst>
          </p:cNvPr>
          <p:cNvSpPr txBox="1"/>
          <p:nvPr/>
        </p:nvSpPr>
        <p:spPr>
          <a:xfrm>
            <a:off x="5766389" y="1054722"/>
            <a:ext cx="1002300" cy="2769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 INDEPENDIENTE</a:t>
            </a:r>
            <a:endParaRPr sz="6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" name="Google Shape;201;p19">
            <a:extLst>
              <a:ext uri="{FF2B5EF4-FFF2-40B4-BE49-F238E27FC236}">
                <a16:creationId xmlns:a16="http://schemas.microsoft.com/office/drawing/2014/main" id="{DA26E11D-3F63-7C89-C790-365E0D665F98}"/>
              </a:ext>
            </a:extLst>
          </p:cNvPr>
          <p:cNvSpPr txBox="1"/>
          <p:nvPr/>
        </p:nvSpPr>
        <p:spPr>
          <a:xfrm>
            <a:off x="6109314" y="1389241"/>
            <a:ext cx="13710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PE" sz="1200" dirty="0">
                <a:latin typeface="Merriweather" panose="00000500000000000000" pitchFamily="2" charset="0"/>
              </a:rPr>
              <a:t>WISECUT</a:t>
            </a:r>
          </a:p>
        </p:txBody>
      </p:sp>
      <p:sp>
        <p:nvSpPr>
          <p:cNvPr id="45" name="Google Shape;202;p19">
            <a:extLst>
              <a:ext uri="{FF2B5EF4-FFF2-40B4-BE49-F238E27FC236}">
                <a16:creationId xmlns:a16="http://schemas.microsoft.com/office/drawing/2014/main" id="{46D65855-1532-169B-1CB4-69EEA118BB86}"/>
              </a:ext>
            </a:extLst>
          </p:cNvPr>
          <p:cNvSpPr txBox="1"/>
          <p:nvPr/>
        </p:nvSpPr>
        <p:spPr>
          <a:xfrm>
            <a:off x="5936213" y="1758541"/>
            <a:ext cx="2227475" cy="308516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PE" sz="700" dirty="0">
                <a:latin typeface="Helvetica Neue" panose="020B0604020202020204" charset="0"/>
              </a:rPr>
              <a:t>Video hablado → Recorte automático de silencios</a:t>
            </a:r>
            <a:endParaRPr sz="700" dirty="0">
              <a:solidFill>
                <a:schemeClr val="dk1"/>
              </a:solidFill>
              <a:latin typeface="Helvetica Neue" panose="020B0604020202020204" charset="0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7" name="Google Shape;203;p19" title="Recurso 13@300x.png">
            <a:extLst>
              <a:ext uri="{FF2B5EF4-FFF2-40B4-BE49-F238E27FC236}">
                <a16:creationId xmlns:a16="http://schemas.microsoft.com/office/drawing/2014/main" id="{804FF372-509A-3317-DA7C-C179F712D36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979938" y="1522690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204;p19">
            <a:extLst>
              <a:ext uri="{FF2B5EF4-FFF2-40B4-BE49-F238E27FC236}">
                <a16:creationId xmlns:a16="http://schemas.microsoft.com/office/drawing/2014/main" id="{C939190A-FBCF-3BA9-37C6-CD0E68B44684}"/>
              </a:ext>
            </a:extLst>
          </p:cNvPr>
          <p:cNvSpPr txBox="1"/>
          <p:nvPr/>
        </p:nvSpPr>
        <p:spPr>
          <a:xfrm>
            <a:off x="5865869" y="2031301"/>
            <a:ext cx="2442300" cy="55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PE" sz="700" dirty="0">
                <a:latin typeface="Helvetica Neue" panose="020B0604020202020204" charset="0"/>
              </a:rPr>
              <a:t>Elimina automáticamente las pausas incómodas y los silencios de tus grabaciones sin que tengas que cortar a mano. Equilibra la música de fondo de forma inteligente.</a:t>
            </a:r>
            <a:endParaRPr lang="es-419" sz="700" b="1" dirty="0">
              <a:solidFill>
                <a:srgbClr val="FF833E"/>
              </a:solidFill>
              <a:latin typeface="Helvetica Neue" panose="020B0604020202020204" charset="0"/>
              <a:ea typeface="Montserrat SemiBold"/>
              <a:cs typeface="Montserrat SemiBold"/>
              <a:hlinkClick r:id="rId5"/>
            </a:endParaRPr>
          </a:p>
        </p:txBody>
      </p:sp>
      <p:pic>
        <p:nvPicPr>
          <p:cNvPr id="51" name="Google Shape;218;p19">
            <a:extLst>
              <a:ext uri="{FF2B5EF4-FFF2-40B4-BE49-F238E27FC236}">
                <a16:creationId xmlns:a16="http://schemas.microsoft.com/office/drawing/2014/main" id="{8FCFCEE2-69F6-970A-B027-0C2560BB6A5D}"/>
              </a:ext>
            </a:extLst>
            <a:hlinkClick r:id="rId9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34314" y="1128485"/>
            <a:ext cx="129375" cy="1293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182;p19">
            <a:extLst>
              <a:ext uri="{FF2B5EF4-FFF2-40B4-BE49-F238E27FC236}">
                <a16:creationId xmlns:a16="http://schemas.microsoft.com/office/drawing/2014/main" id="{C9AD3BFC-365C-DAAE-B723-77CFE8CA969F}"/>
              </a:ext>
            </a:extLst>
          </p:cNvPr>
          <p:cNvSpPr/>
          <p:nvPr/>
        </p:nvSpPr>
        <p:spPr>
          <a:xfrm>
            <a:off x="254720" y="2942990"/>
            <a:ext cx="2525700" cy="1626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FF83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200;p19">
            <a:extLst>
              <a:ext uri="{FF2B5EF4-FFF2-40B4-BE49-F238E27FC236}">
                <a16:creationId xmlns:a16="http://schemas.microsoft.com/office/drawing/2014/main" id="{490C76EE-EF0C-914C-F2E0-8588ACA51AFD}"/>
              </a:ext>
            </a:extLst>
          </p:cNvPr>
          <p:cNvSpPr txBox="1"/>
          <p:nvPr/>
        </p:nvSpPr>
        <p:spPr>
          <a:xfrm>
            <a:off x="254720" y="2942991"/>
            <a:ext cx="1002300" cy="2769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 INDEPENDIENTE</a:t>
            </a:r>
            <a:endParaRPr sz="6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201;p19">
            <a:extLst>
              <a:ext uri="{FF2B5EF4-FFF2-40B4-BE49-F238E27FC236}">
                <a16:creationId xmlns:a16="http://schemas.microsoft.com/office/drawing/2014/main" id="{104343A4-A6CD-4F16-EA1A-ED0BF33F675E}"/>
              </a:ext>
            </a:extLst>
          </p:cNvPr>
          <p:cNvSpPr txBox="1"/>
          <p:nvPr/>
        </p:nvSpPr>
        <p:spPr>
          <a:xfrm>
            <a:off x="597645" y="3277510"/>
            <a:ext cx="13710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PE" sz="1200" dirty="0">
                <a:latin typeface="Merriweather" panose="00000500000000000000" pitchFamily="2" charset="0"/>
              </a:rPr>
              <a:t>DESCRIPT</a:t>
            </a:r>
          </a:p>
        </p:txBody>
      </p:sp>
      <p:sp>
        <p:nvSpPr>
          <p:cNvPr id="59" name="Google Shape;202;p19">
            <a:extLst>
              <a:ext uri="{FF2B5EF4-FFF2-40B4-BE49-F238E27FC236}">
                <a16:creationId xmlns:a16="http://schemas.microsoft.com/office/drawing/2014/main" id="{E5537E33-55AB-2A0A-6718-9DB8FCA149C6}"/>
              </a:ext>
            </a:extLst>
          </p:cNvPr>
          <p:cNvSpPr txBox="1"/>
          <p:nvPr/>
        </p:nvSpPr>
        <p:spPr>
          <a:xfrm>
            <a:off x="424544" y="3646810"/>
            <a:ext cx="2227475" cy="308516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PE" sz="700" dirty="0">
                <a:latin typeface="Helvetica Neue" panose="020B0604020202020204" charset="0"/>
              </a:rPr>
              <a:t>Transcripción → Edición basada en texto</a:t>
            </a:r>
            <a:endParaRPr sz="700" dirty="0">
              <a:solidFill>
                <a:schemeClr val="dk1"/>
              </a:solidFill>
              <a:latin typeface="Helvetica Neue" panose="020B0604020202020204" charset="0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1" name="Google Shape;203;p19" title="Recurso 13@300x.png">
            <a:extLst>
              <a:ext uri="{FF2B5EF4-FFF2-40B4-BE49-F238E27FC236}">
                <a16:creationId xmlns:a16="http://schemas.microsoft.com/office/drawing/2014/main" id="{8EAEEFA0-B042-8036-13BA-189A5094761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468269" y="3410959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204;p19">
            <a:extLst>
              <a:ext uri="{FF2B5EF4-FFF2-40B4-BE49-F238E27FC236}">
                <a16:creationId xmlns:a16="http://schemas.microsoft.com/office/drawing/2014/main" id="{A8E36ECD-DA42-8125-771A-90D2F3E3AD34}"/>
              </a:ext>
            </a:extLst>
          </p:cNvPr>
          <p:cNvSpPr txBox="1"/>
          <p:nvPr/>
        </p:nvSpPr>
        <p:spPr>
          <a:xfrm>
            <a:off x="354200" y="3919570"/>
            <a:ext cx="2442300" cy="55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PE" sz="700" dirty="0">
                <a:latin typeface="Helvetica Neue" panose="020B0604020202020204" charset="0"/>
              </a:rPr>
              <a:t>Edita tu video borrando texto como si fuera un documento de Word. Su IA elimina todas las muletillas (</a:t>
            </a:r>
            <a:r>
              <a:rPr lang="es-PE" sz="700" i="1" dirty="0">
                <a:latin typeface="Helvetica Neue" panose="020B0604020202020204" charset="0"/>
              </a:rPr>
              <a:t>"</a:t>
            </a:r>
            <a:r>
              <a:rPr lang="es-PE" sz="700" i="1" dirty="0" err="1">
                <a:latin typeface="Helvetica Neue" panose="020B0604020202020204" charset="0"/>
              </a:rPr>
              <a:t>ehh</a:t>
            </a:r>
            <a:r>
              <a:rPr lang="es-PE" sz="700" i="1" dirty="0">
                <a:latin typeface="Helvetica Neue" panose="020B0604020202020204" charset="0"/>
              </a:rPr>
              <a:t>"</a:t>
            </a:r>
            <a:r>
              <a:rPr lang="es-PE" sz="700" dirty="0">
                <a:latin typeface="Helvetica Neue" panose="020B0604020202020204" charset="0"/>
              </a:rPr>
              <a:t>, </a:t>
            </a:r>
            <a:r>
              <a:rPr lang="es-PE" sz="700" i="1" dirty="0">
                <a:latin typeface="Helvetica Neue" panose="020B0604020202020204" charset="0"/>
              </a:rPr>
              <a:t>"</a:t>
            </a:r>
            <a:r>
              <a:rPr lang="es-PE" sz="700" i="1" dirty="0" err="1">
                <a:latin typeface="Helvetica Neue" panose="020B0604020202020204" charset="0"/>
              </a:rPr>
              <a:t>umm</a:t>
            </a:r>
            <a:r>
              <a:rPr lang="es-PE" sz="700" i="1" dirty="0">
                <a:latin typeface="Helvetica Neue" panose="020B0604020202020204" charset="0"/>
              </a:rPr>
              <a:t>"</a:t>
            </a:r>
            <a:r>
              <a:rPr lang="es-PE" sz="700" dirty="0">
                <a:latin typeface="Helvetica Neue" panose="020B0604020202020204" charset="0"/>
              </a:rPr>
              <a:t>) y los silencios con un solo clic.</a:t>
            </a:r>
            <a:endParaRPr lang="es-419" sz="700" b="1" dirty="0">
              <a:solidFill>
                <a:srgbClr val="FF833E"/>
              </a:solidFill>
              <a:latin typeface="Helvetica Neue" panose="020B0604020202020204" charset="0"/>
              <a:ea typeface="Montserrat SemiBold"/>
              <a:cs typeface="Montserrat SemiBold"/>
              <a:hlinkClick r:id="rId5"/>
            </a:endParaRPr>
          </a:p>
        </p:txBody>
      </p:sp>
      <p:pic>
        <p:nvPicPr>
          <p:cNvPr id="257" name="Google Shape;218;p19">
            <a:extLst>
              <a:ext uri="{FF2B5EF4-FFF2-40B4-BE49-F238E27FC236}">
                <a16:creationId xmlns:a16="http://schemas.microsoft.com/office/drawing/2014/main" id="{2B12EC82-1D79-674D-47B6-CE6191CBBECB}"/>
              </a:ext>
            </a:extLst>
            <a:hlinkClick r:id="rId10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22645" y="3016754"/>
            <a:ext cx="129375" cy="129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182;p19">
            <a:extLst>
              <a:ext uri="{FF2B5EF4-FFF2-40B4-BE49-F238E27FC236}">
                <a16:creationId xmlns:a16="http://schemas.microsoft.com/office/drawing/2014/main" id="{37DC51BC-9699-5F54-624A-379B1E6359E2}"/>
              </a:ext>
            </a:extLst>
          </p:cNvPr>
          <p:cNvSpPr/>
          <p:nvPr/>
        </p:nvSpPr>
        <p:spPr>
          <a:xfrm>
            <a:off x="3029240" y="2952436"/>
            <a:ext cx="2525700" cy="1626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FF83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00;p19">
            <a:extLst>
              <a:ext uri="{FF2B5EF4-FFF2-40B4-BE49-F238E27FC236}">
                <a16:creationId xmlns:a16="http://schemas.microsoft.com/office/drawing/2014/main" id="{15FCEE36-4199-CDFA-045E-CDC54E10B483}"/>
              </a:ext>
            </a:extLst>
          </p:cNvPr>
          <p:cNvSpPr txBox="1"/>
          <p:nvPr/>
        </p:nvSpPr>
        <p:spPr>
          <a:xfrm>
            <a:off x="3029240" y="2952437"/>
            <a:ext cx="1002300" cy="2769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 INDEPENDIENTE</a:t>
            </a:r>
            <a:endParaRPr sz="6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01;p19">
            <a:extLst>
              <a:ext uri="{FF2B5EF4-FFF2-40B4-BE49-F238E27FC236}">
                <a16:creationId xmlns:a16="http://schemas.microsoft.com/office/drawing/2014/main" id="{C6DEA430-3469-6B94-AE30-759F2EA1FC6F}"/>
              </a:ext>
            </a:extLst>
          </p:cNvPr>
          <p:cNvSpPr txBox="1"/>
          <p:nvPr/>
        </p:nvSpPr>
        <p:spPr>
          <a:xfrm>
            <a:off x="3372165" y="3286956"/>
            <a:ext cx="13710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PE" sz="1200" dirty="0">
                <a:latin typeface="Merriweather" panose="00000500000000000000" pitchFamily="2" charset="0"/>
              </a:rPr>
              <a:t>CAPCUT</a:t>
            </a:r>
          </a:p>
        </p:txBody>
      </p:sp>
      <p:sp>
        <p:nvSpPr>
          <p:cNvPr id="265" name="Google Shape;202;p19">
            <a:extLst>
              <a:ext uri="{FF2B5EF4-FFF2-40B4-BE49-F238E27FC236}">
                <a16:creationId xmlns:a16="http://schemas.microsoft.com/office/drawing/2014/main" id="{146319E5-2AD4-E2B2-2869-B303A5DB3526}"/>
              </a:ext>
            </a:extLst>
          </p:cNvPr>
          <p:cNvSpPr txBox="1"/>
          <p:nvPr/>
        </p:nvSpPr>
        <p:spPr>
          <a:xfrm>
            <a:off x="3199064" y="3656256"/>
            <a:ext cx="2227475" cy="32621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PE" sz="800" dirty="0">
                <a:latin typeface="Helvetica Neue" panose="020B0604020202020204" charset="0"/>
              </a:rPr>
              <a:t>Todo en uno → Plantillas y efectos rápidos</a:t>
            </a:r>
            <a:endParaRPr sz="700" dirty="0">
              <a:solidFill>
                <a:schemeClr val="dk1"/>
              </a:solidFill>
              <a:latin typeface="Helvetica Neue" panose="020B0604020202020204" charset="0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7" name="Google Shape;203;p19" title="Recurso 13@300x.png">
            <a:extLst>
              <a:ext uri="{FF2B5EF4-FFF2-40B4-BE49-F238E27FC236}">
                <a16:creationId xmlns:a16="http://schemas.microsoft.com/office/drawing/2014/main" id="{1A4D133C-3D64-F3A7-ED13-4420B9AF8FE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3242789" y="3420405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04;p19">
            <a:extLst>
              <a:ext uri="{FF2B5EF4-FFF2-40B4-BE49-F238E27FC236}">
                <a16:creationId xmlns:a16="http://schemas.microsoft.com/office/drawing/2014/main" id="{6BC25948-C21D-F694-25B0-1768543C7B36}"/>
              </a:ext>
            </a:extLst>
          </p:cNvPr>
          <p:cNvSpPr txBox="1"/>
          <p:nvPr/>
        </p:nvSpPr>
        <p:spPr>
          <a:xfrm>
            <a:off x="3128720" y="3929016"/>
            <a:ext cx="2442300" cy="55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PE" sz="700" dirty="0">
                <a:latin typeface="Helvetica Neue" panose="020B0604020202020204" charset="0"/>
              </a:rPr>
              <a:t>La herramienta más accesible para arrastrar clips, aplicar subtítulos automáticos en segundos, eliminar fondos y usar transiciones de tendencia al instante..</a:t>
            </a:r>
            <a:endParaRPr lang="es-419" sz="700" b="1" dirty="0">
              <a:solidFill>
                <a:srgbClr val="FF833E"/>
              </a:solidFill>
              <a:latin typeface="Helvetica Neue" panose="020B0604020202020204" charset="0"/>
              <a:ea typeface="Montserrat SemiBold"/>
              <a:cs typeface="Montserrat SemiBold"/>
              <a:hlinkClick r:id="rId5"/>
            </a:endParaRPr>
          </a:p>
        </p:txBody>
      </p:sp>
      <p:pic>
        <p:nvPicPr>
          <p:cNvPr id="271" name="Google Shape;218;p19">
            <a:extLst>
              <a:ext uri="{FF2B5EF4-FFF2-40B4-BE49-F238E27FC236}">
                <a16:creationId xmlns:a16="http://schemas.microsoft.com/office/drawing/2014/main" id="{679BF2B6-3AA6-E314-0B3D-35EB0EAB25E3}"/>
              </a:ext>
            </a:extLst>
            <a:hlinkClick r:id="rId11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7165" y="3026200"/>
            <a:ext cx="129375" cy="1293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82;p19">
            <a:extLst>
              <a:ext uri="{FF2B5EF4-FFF2-40B4-BE49-F238E27FC236}">
                <a16:creationId xmlns:a16="http://schemas.microsoft.com/office/drawing/2014/main" id="{336C417F-30AD-D68E-BB48-52860B5C5E4B}"/>
              </a:ext>
            </a:extLst>
          </p:cNvPr>
          <p:cNvSpPr/>
          <p:nvPr/>
        </p:nvSpPr>
        <p:spPr>
          <a:xfrm>
            <a:off x="5766389" y="2963049"/>
            <a:ext cx="2525700" cy="1626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FF83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00;p19">
            <a:extLst>
              <a:ext uri="{FF2B5EF4-FFF2-40B4-BE49-F238E27FC236}">
                <a16:creationId xmlns:a16="http://schemas.microsoft.com/office/drawing/2014/main" id="{0A5AFC32-7F32-F2EB-7B03-8A8AEB1FEA02}"/>
              </a:ext>
            </a:extLst>
          </p:cNvPr>
          <p:cNvSpPr txBox="1"/>
          <p:nvPr/>
        </p:nvSpPr>
        <p:spPr>
          <a:xfrm>
            <a:off x="5766389" y="2963050"/>
            <a:ext cx="1002300" cy="2769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 INDEPENDIENTE</a:t>
            </a:r>
            <a:endParaRPr sz="6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Google Shape;201;p19">
            <a:extLst>
              <a:ext uri="{FF2B5EF4-FFF2-40B4-BE49-F238E27FC236}">
                <a16:creationId xmlns:a16="http://schemas.microsoft.com/office/drawing/2014/main" id="{449186F0-0462-2BC4-3F2D-F4299210E0C1}"/>
              </a:ext>
            </a:extLst>
          </p:cNvPr>
          <p:cNvSpPr txBox="1"/>
          <p:nvPr/>
        </p:nvSpPr>
        <p:spPr>
          <a:xfrm>
            <a:off x="6109314" y="3297569"/>
            <a:ext cx="13710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PE" sz="1200" dirty="0">
                <a:latin typeface="Merriweather" panose="00000500000000000000" pitchFamily="2" charset="0"/>
              </a:rPr>
              <a:t>HEYGEN</a:t>
            </a:r>
          </a:p>
        </p:txBody>
      </p:sp>
      <p:sp>
        <p:nvSpPr>
          <p:cNvPr id="16" name="Google Shape;202;p19">
            <a:extLst>
              <a:ext uri="{FF2B5EF4-FFF2-40B4-BE49-F238E27FC236}">
                <a16:creationId xmlns:a16="http://schemas.microsoft.com/office/drawing/2014/main" id="{723F6720-A391-C2D6-D7E0-57C512E7CE11}"/>
              </a:ext>
            </a:extLst>
          </p:cNvPr>
          <p:cNvSpPr txBox="1"/>
          <p:nvPr/>
        </p:nvSpPr>
        <p:spPr>
          <a:xfrm>
            <a:off x="5913353" y="3590669"/>
            <a:ext cx="2285767" cy="308516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PE" sz="700" dirty="0">
                <a:latin typeface="Helvetica Neue" panose="020B0604020202020204" charset="0"/>
              </a:rPr>
              <a:t>Texto → Avatares hiperrealistas y clonación de voz</a:t>
            </a:r>
            <a:endParaRPr sz="700" dirty="0">
              <a:solidFill>
                <a:schemeClr val="dk1"/>
              </a:solidFill>
              <a:latin typeface="Helvetica Neue" panose="020B0604020202020204" charset="0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" name="Google Shape;203;p19" title="Recurso 13@300x.png">
            <a:extLst>
              <a:ext uri="{FF2B5EF4-FFF2-40B4-BE49-F238E27FC236}">
                <a16:creationId xmlns:a16="http://schemas.microsoft.com/office/drawing/2014/main" id="{94F77938-488B-5580-3293-C1F9E68E404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979938" y="3431018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04;p19">
            <a:extLst>
              <a:ext uri="{FF2B5EF4-FFF2-40B4-BE49-F238E27FC236}">
                <a16:creationId xmlns:a16="http://schemas.microsoft.com/office/drawing/2014/main" id="{E874B607-5206-276F-6CC8-B831E2AA7793}"/>
              </a:ext>
            </a:extLst>
          </p:cNvPr>
          <p:cNvSpPr txBox="1"/>
          <p:nvPr/>
        </p:nvSpPr>
        <p:spPr>
          <a:xfrm>
            <a:off x="5908731" y="3801515"/>
            <a:ext cx="2442300" cy="80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PE" sz="700" dirty="0">
                <a:latin typeface="Helvetica Neue" panose="020B0604020202020204" charset="0"/>
              </a:rPr>
              <a:t>Plataforma líder para crear videos rápidos con portavoces o avatares de Inteligencia Artificial. Permite clonar tu propia voz, traducir videos a múltiples idiomas moviendo los labios automáticamente (</a:t>
            </a:r>
            <a:r>
              <a:rPr lang="es-PE" sz="700" dirty="0" err="1">
                <a:latin typeface="Helvetica Neue" panose="020B0604020202020204" charset="0"/>
              </a:rPr>
              <a:t>Lipsync</a:t>
            </a:r>
            <a:r>
              <a:rPr lang="es-PE" sz="700" dirty="0">
                <a:latin typeface="Helvetica Neue" panose="020B0604020202020204" charset="0"/>
              </a:rPr>
              <a:t>) y generar videos explicativos en minutos.</a:t>
            </a:r>
            <a:endParaRPr lang="es-419" sz="700" b="1" dirty="0">
              <a:solidFill>
                <a:srgbClr val="FF833E"/>
              </a:solidFill>
              <a:latin typeface="Helvetica Neue" panose="020B0604020202020204" charset="0"/>
              <a:ea typeface="Montserrat SemiBold"/>
              <a:cs typeface="Montserrat SemiBold"/>
              <a:hlinkClick r:id="rId5"/>
            </a:endParaRPr>
          </a:p>
        </p:txBody>
      </p:sp>
      <p:pic>
        <p:nvPicPr>
          <p:cNvPr id="28" name="Google Shape;218;p19">
            <a:extLst>
              <a:ext uri="{FF2B5EF4-FFF2-40B4-BE49-F238E27FC236}">
                <a16:creationId xmlns:a16="http://schemas.microsoft.com/office/drawing/2014/main" id="{D46CFD52-D857-2B31-BB79-B5FDFC91897B}"/>
              </a:ext>
            </a:extLst>
            <a:hlinkClick r:id="rId12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34314" y="3036813"/>
            <a:ext cx="129375" cy="129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7108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roo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66;p17" descr="image.png">
            <a:extLst>
              <a:ext uri="{FF2B5EF4-FFF2-40B4-BE49-F238E27FC236}">
                <a16:creationId xmlns:a16="http://schemas.microsoft.com/office/drawing/2014/main" id="{DDBC5FAC-0B4F-D9CC-652C-395D948B050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71;p19">
            <a:extLst>
              <a:ext uri="{FF2B5EF4-FFF2-40B4-BE49-F238E27FC236}">
                <a16:creationId xmlns:a16="http://schemas.microsoft.com/office/drawing/2014/main" id="{F6A28A0F-7882-B469-A526-569AF45AC170}"/>
              </a:ext>
            </a:extLst>
          </p:cNvPr>
          <p:cNvSpPr/>
          <p:nvPr/>
        </p:nvSpPr>
        <p:spPr>
          <a:xfrm rot="10800000" flipH="1">
            <a:off x="0" y="125"/>
            <a:ext cx="8279400" cy="816300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2" name="Google Shape;372;p23"/>
          <p:cNvSpPr txBox="1"/>
          <p:nvPr/>
        </p:nvSpPr>
        <p:spPr>
          <a:xfrm>
            <a:off x="8529750" y="4502900"/>
            <a:ext cx="367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1" name="card_border_0"/>
          <p:cNvSpPr/>
          <p:nvPr/>
        </p:nvSpPr>
        <p:spPr>
          <a:xfrm>
            <a:off x="270800" y="1064650"/>
            <a:ext cx="2525700" cy="200592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badge_0"/>
          <p:cNvSpPr txBox="1"/>
          <p:nvPr/>
        </p:nvSpPr>
        <p:spPr>
          <a:xfrm>
            <a:off x="282089" y="1075939"/>
            <a:ext cx="873304" cy="290819"/>
          </a:xfrm>
          <a:prstGeom prst="rect">
            <a:avLst/>
          </a:prstGeom>
          <a:solidFill>
            <a:srgbClr val="FFD65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 dirty="0">
                <a:latin typeface="Helvetica Neue"/>
                <a:ea typeface="Helvetica Neue"/>
                <a:cs typeface="Helvetica Neue"/>
                <a:sym typeface="Helvetica Neue"/>
              </a:rPr>
              <a:t>✓  YA LO TIENES</a:t>
            </a:r>
            <a:endParaRPr sz="6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3" name="name_0"/>
          <p:cNvSpPr txBox="1"/>
          <p:nvPr/>
        </p:nvSpPr>
        <p:spPr>
          <a:xfrm>
            <a:off x="613725" y="1383919"/>
            <a:ext cx="192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ELEVENLABS</a:t>
            </a:r>
            <a:endParaRPr sz="120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04" name="tag_0"/>
          <p:cNvSpPr txBox="1"/>
          <p:nvPr/>
        </p:nvSpPr>
        <p:spPr>
          <a:xfrm>
            <a:off x="440625" y="1753225"/>
            <a:ext cx="2150175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Voz en off fotorrealista</a:t>
            </a:r>
            <a:endParaRPr sz="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5" name="desc_0"/>
          <p:cNvSpPr txBox="1"/>
          <p:nvPr/>
        </p:nvSpPr>
        <p:spPr>
          <a:xfrm>
            <a:off x="377900" y="2079325"/>
            <a:ext cx="2311100" cy="2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Convierte texto en voz profesional. Más de 5,000 voces en 70+ idiomas. Clona voces y genera locuciones para videos de cliente. Plan gratis con 10K caracteres al mes.</a:t>
            </a:r>
            <a:endParaRPr sz="700">
              <a:solidFill>
                <a:schemeClr val="dk1"/>
              </a:solidFill>
              <a:latin typeface="Helvetica Neue"/>
            </a:endParaRPr>
          </a:p>
        </p:txBody>
      </p:sp>
      <p:sp>
        <p:nvSpPr>
          <p:cNvPr id="1508" name="card_border_1"/>
          <p:cNvSpPr/>
          <p:nvPr/>
        </p:nvSpPr>
        <p:spPr>
          <a:xfrm>
            <a:off x="3021442" y="1064650"/>
            <a:ext cx="2525700" cy="200592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0" name="name_1"/>
          <p:cNvSpPr txBox="1"/>
          <p:nvPr/>
        </p:nvSpPr>
        <p:spPr>
          <a:xfrm>
            <a:off x="3364367" y="1383919"/>
            <a:ext cx="1923000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SUNO V4 (</a:t>
            </a:r>
            <a:r>
              <a:rPr lang="es-419" sz="1200" dirty="0" err="1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Mureka</a:t>
            </a:r>
            <a:r>
              <a:rPr lang="es-419" sz="1200" dirty="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sz="1200" dirty="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11" name="tag_1"/>
          <p:cNvSpPr txBox="1"/>
          <p:nvPr/>
        </p:nvSpPr>
        <p:spPr>
          <a:xfrm>
            <a:off x="3191267" y="1753225"/>
            <a:ext cx="2150175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Música generativa desde texto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2" name="desc_1"/>
          <p:cNvSpPr txBox="1"/>
          <p:nvPr/>
        </p:nvSpPr>
        <p:spPr>
          <a:xfrm>
            <a:off x="3117253" y="2079325"/>
            <a:ext cx="2311100" cy="2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 canciones completas con letra, melodía y producción desde un </a:t>
            </a:r>
            <a:r>
              <a:rPr lang="es-419" sz="7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prompt</a:t>
            </a: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Ideal para jingles de clientes y música de fondo para videos de marca. Plan gratis disponible.</a:t>
            </a:r>
            <a:endParaRPr sz="700" dirty="0">
              <a:solidFill>
                <a:schemeClr val="dk1"/>
              </a:solidFill>
              <a:latin typeface="Helvetica Neue"/>
            </a:endParaRPr>
          </a:p>
        </p:txBody>
      </p:sp>
      <p:sp>
        <p:nvSpPr>
          <p:cNvPr id="1515" name="card_border_2"/>
          <p:cNvSpPr/>
          <p:nvPr/>
        </p:nvSpPr>
        <p:spPr>
          <a:xfrm>
            <a:off x="5772086" y="1102900"/>
            <a:ext cx="2525700" cy="196767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7" name="name_2"/>
          <p:cNvSpPr txBox="1"/>
          <p:nvPr/>
        </p:nvSpPr>
        <p:spPr>
          <a:xfrm>
            <a:off x="6115012" y="1383919"/>
            <a:ext cx="192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WHISPER</a:t>
            </a:r>
            <a:endParaRPr sz="120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18" name="tag_2"/>
          <p:cNvSpPr txBox="1"/>
          <p:nvPr/>
        </p:nvSpPr>
        <p:spPr>
          <a:xfrm>
            <a:off x="5941912" y="1753225"/>
            <a:ext cx="2150175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Transcripción automática con IA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9" name="desc_2"/>
          <p:cNvSpPr txBox="1"/>
          <p:nvPr/>
        </p:nvSpPr>
        <p:spPr>
          <a:xfrm>
            <a:off x="5856606" y="2079325"/>
            <a:ext cx="2311100" cy="2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Transcribe reuniones, entrevistas y podcasts a texto con alta precisión. Detecta hablantes y genera subtítulos. Open </a:t>
            </a:r>
            <a:r>
              <a:rPr lang="es-419" sz="7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source</a:t>
            </a: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gratuito. </a:t>
            </a:r>
            <a:r>
              <a:rPr lang="es-419" sz="7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AssemblyAI</a:t>
            </a: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tiene API con plan gratis.</a:t>
            </a:r>
            <a:endParaRPr sz="700" dirty="0">
              <a:solidFill>
                <a:schemeClr val="dk1"/>
              </a:solidFill>
              <a:latin typeface="Helvetica Neue"/>
            </a:endParaRPr>
          </a:p>
        </p:txBody>
      </p:sp>
      <p:pic>
        <p:nvPicPr>
          <p:cNvPr id="1506" name="arrow_0">
            <a:hlinkClick r:id="rId3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61982" y="1167601"/>
            <a:ext cx="129375" cy="1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3" name="arrow_1">
            <a:hlinkClick r:id="rId4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4714" y="1142225"/>
            <a:ext cx="129375" cy="1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0" name="arrow_2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91008" y="1203100"/>
            <a:ext cx="129375" cy="129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Google Shape;178;p19">
            <a:extLst>
              <a:ext uri="{FF2B5EF4-FFF2-40B4-BE49-F238E27FC236}">
                <a16:creationId xmlns:a16="http://schemas.microsoft.com/office/drawing/2014/main" id="{DE69A3AB-B1E6-B210-6746-F3F1AE5B2B06}"/>
              </a:ext>
            </a:extLst>
          </p:cNvPr>
          <p:cNvCxnSpPr/>
          <p:nvPr/>
        </p:nvCxnSpPr>
        <p:spPr>
          <a:xfrm>
            <a:off x="1811700" y="209400"/>
            <a:ext cx="0" cy="376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177;p19">
            <a:extLst>
              <a:ext uri="{FF2B5EF4-FFF2-40B4-BE49-F238E27FC236}">
                <a16:creationId xmlns:a16="http://schemas.microsoft.com/office/drawing/2014/main" id="{F76BAACD-4F26-FF1B-BC71-A5FE1E3CEE54}"/>
              </a:ext>
            </a:extLst>
          </p:cNvPr>
          <p:cNvSpPr txBox="1"/>
          <p:nvPr/>
        </p:nvSpPr>
        <p:spPr>
          <a:xfrm>
            <a:off x="2097949" y="205350"/>
            <a:ext cx="5120068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419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Voz, música y transcripción</a:t>
            </a:r>
          </a:p>
        </p:txBody>
      </p:sp>
      <p:sp>
        <p:nvSpPr>
          <p:cNvPr id="3" name="Google Shape;176;p19">
            <a:extLst>
              <a:ext uri="{FF2B5EF4-FFF2-40B4-BE49-F238E27FC236}">
                <a16:creationId xmlns:a16="http://schemas.microsoft.com/office/drawing/2014/main" id="{B80C2517-9FE4-DE3C-AB71-EF106D3416A4}"/>
              </a:ext>
            </a:extLst>
          </p:cNvPr>
          <p:cNvSpPr txBox="1"/>
          <p:nvPr/>
        </p:nvSpPr>
        <p:spPr>
          <a:xfrm>
            <a:off x="270800" y="74550"/>
            <a:ext cx="1492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AUDIO</a:t>
            </a:r>
            <a:endParaRPr sz="3000" dirty="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" name="Google Shape;214;p19">
            <a:extLst>
              <a:ext uri="{FF2B5EF4-FFF2-40B4-BE49-F238E27FC236}">
                <a16:creationId xmlns:a16="http://schemas.microsoft.com/office/drawing/2014/main" id="{739DF2BB-4ED3-CD97-E6CE-93A20CF3DF23}"/>
              </a:ext>
            </a:extLst>
          </p:cNvPr>
          <p:cNvSpPr txBox="1"/>
          <p:nvPr/>
        </p:nvSpPr>
        <p:spPr>
          <a:xfrm>
            <a:off x="5764092" y="1104960"/>
            <a:ext cx="1002300" cy="2769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 INDEPENDIENTE</a:t>
            </a:r>
            <a:endParaRPr sz="6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" name="Google Shape;214;p19">
            <a:extLst>
              <a:ext uri="{FF2B5EF4-FFF2-40B4-BE49-F238E27FC236}">
                <a16:creationId xmlns:a16="http://schemas.microsoft.com/office/drawing/2014/main" id="{83D2A033-61A6-6FDE-795C-9B87E3B1066B}"/>
              </a:ext>
            </a:extLst>
          </p:cNvPr>
          <p:cNvSpPr txBox="1"/>
          <p:nvPr/>
        </p:nvSpPr>
        <p:spPr>
          <a:xfrm>
            <a:off x="3044020" y="1065632"/>
            <a:ext cx="1002300" cy="2769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 INDEPENDIENTE</a:t>
            </a:r>
            <a:endParaRPr sz="6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66;p17" descr="image.png">
            <a:extLst>
              <a:ext uri="{FF2B5EF4-FFF2-40B4-BE49-F238E27FC236}">
                <a16:creationId xmlns:a16="http://schemas.microsoft.com/office/drawing/2014/main" id="{994FCA8D-873A-958F-282C-11A7B228072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/>
          <p:nvPr/>
        </p:nvSpPr>
        <p:spPr>
          <a:xfrm rot="10800000" flipH="1">
            <a:off x="0" y="125"/>
            <a:ext cx="8279400" cy="816300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270800" y="4736375"/>
            <a:ext cx="254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es-419" sz="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PROPIEDAD GRÁFICA E INTELECTUAL. TODOS LOS DERECHOS RESERVADOS </a:t>
            </a:r>
            <a:r>
              <a:rPr lang="es-419" sz="500" b="0" i="0" u="none" strike="noStrike" cap="none">
                <a:solidFill>
                  <a:srgbClr val="202124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®</a:t>
            </a:r>
            <a:r>
              <a:rPr lang="es-419" sz="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1000" b="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27" name="Google Shape;227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8226641" y="643185"/>
            <a:ext cx="973743" cy="1625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8" name="Google Shape;228;p20"/>
          <p:cNvCxnSpPr>
            <a:stCxn id="227" idx="1"/>
            <a:endCxn id="229" idx="0"/>
          </p:cNvCxnSpPr>
          <p:nvPr/>
        </p:nvCxnSpPr>
        <p:spPr>
          <a:xfrm>
            <a:off x="8713512" y="1211328"/>
            <a:ext cx="0" cy="329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9" name="Google Shape;229;p20"/>
          <p:cNvSpPr txBox="1"/>
          <p:nvPr/>
        </p:nvSpPr>
        <p:spPr>
          <a:xfrm>
            <a:off x="8529750" y="4502900"/>
            <a:ext cx="367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08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270800" y="74550"/>
            <a:ext cx="2370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IMÁGENES</a:t>
            </a:r>
            <a:endParaRPr sz="30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3082750" y="205350"/>
            <a:ext cx="4124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Generación y edición de imágenes para campañas</a:t>
            </a:r>
            <a:endParaRPr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32" name="Google Shape;232;p20"/>
          <p:cNvCxnSpPr/>
          <p:nvPr/>
        </p:nvCxnSpPr>
        <p:spPr>
          <a:xfrm>
            <a:off x="2796500" y="209400"/>
            <a:ext cx="0" cy="376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3" name="Google Shape;233;p20"/>
          <p:cNvSpPr/>
          <p:nvPr/>
        </p:nvSpPr>
        <p:spPr>
          <a:xfrm>
            <a:off x="270800" y="1064650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3012300" y="1064650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5753800" y="1064650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270800" y="2958499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3012300" y="2958499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270800" y="1064650"/>
            <a:ext cx="838800" cy="276900"/>
          </a:xfrm>
          <a:prstGeom prst="rect">
            <a:avLst/>
          </a:prstGeom>
          <a:solidFill>
            <a:srgbClr val="FFD65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YA LO TIENES</a:t>
            </a:r>
            <a:endParaRPr sz="6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613725" y="1383919"/>
            <a:ext cx="1423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MIDJOURNEY</a:t>
            </a:r>
            <a:endParaRPr sz="120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440625" y="1753225"/>
            <a:ext cx="17241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Imágenes artísticas de campaña</a:t>
            </a:r>
            <a:endParaRPr sz="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1" name="Google Shape;241;p20" title="Recurso 13@300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484349" y="1517368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0"/>
          <p:cNvSpPr txBox="1"/>
          <p:nvPr/>
        </p:nvSpPr>
        <p:spPr>
          <a:xfrm>
            <a:off x="377900" y="2079325"/>
            <a:ext cx="22632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</a:t>
            </a:r>
            <a:r>
              <a:rPr lang="es-419" sz="7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</a:t>
            </a: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creativos únicos de alta calidad. El estándar para contenido visual de marcas. Disponible en tu plan SEO Conjuntas.</a:t>
            </a:r>
            <a:endParaRPr sz="7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3012300" y="1064650"/>
            <a:ext cx="838800" cy="276900"/>
          </a:xfrm>
          <a:prstGeom prst="rect">
            <a:avLst/>
          </a:prstGeom>
          <a:solidFill>
            <a:srgbClr val="FFD65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YA LO TIENES</a:t>
            </a:r>
            <a:endParaRPr sz="6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5753800" y="1064650"/>
            <a:ext cx="838800" cy="276900"/>
          </a:xfrm>
          <a:prstGeom prst="rect">
            <a:avLst/>
          </a:prstGeom>
          <a:solidFill>
            <a:srgbClr val="FFD65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YA LO TIENES</a:t>
            </a:r>
            <a:endParaRPr sz="6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270800" y="2958500"/>
            <a:ext cx="838800" cy="276900"/>
          </a:xfrm>
          <a:prstGeom prst="rect">
            <a:avLst/>
          </a:prstGeom>
          <a:solidFill>
            <a:srgbClr val="FFD65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YA LO TIENES</a:t>
            </a:r>
            <a:endParaRPr sz="6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3355225" y="1383919"/>
            <a:ext cx="2055100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FREEPIK IA (</a:t>
            </a:r>
            <a:r>
              <a:rPr lang="es-419" sz="1200" dirty="0" err="1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Magnific</a:t>
            </a:r>
            <a:r>
              <a:rPr lang="es-419" sz="1200" dirty="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sz="1200" dirty="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3182125" y="1753219"/>
            <a:ext cx="16695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Generación + edición integrada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8" name="Google Shape;248;p20" title="Recurso 13@300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3225849" y="1517368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0"/>
          <p:cNvSpPr txBox="1"/>
          <p:nvPr/>
        </p:nvSpPr>
        <p:spPr>
          <a:xfrm>
            <a:off x="3119400" y="2079319"/>
            <a:ext cx="24186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 imágenes, las edita con IA y exporta en múltiples formatos. Todo en una plataforma. LoRAs para consistencia de personaje.</a:t>
            </a:r>
            <a:endParaRPr sz="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6096725" y="1383919"/>
            <a:ext cx="183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CANVA (EDU)</a:t>
            </a:r>
            <a:endParaRPr sz="120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5923625" y="1753225"/>
            <a:ext cx="15006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Diseño + plantillas + marca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2" name="Google Shape;252;p20" title="Recurso 13@300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5967349" y="1517368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0"/>
          <p:cNvSpPr txBox="1"/>
          <p:nvPr/>
        </p:nvSpPr>
        <p:spPr>
          <a:xfrm>
            <a:off x="5860900" y="2033086"/>
            <a:ext cx="21036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el día a día: posts, </a:t>
            </a:r>
            <a:r>
              <a:rPr lang="es-419" sz="7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stories</a:t>
            </a: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presentaciones, documentos. Magic Studio de </a:t>
            </a:r>
            <a:r>
              <a:rPr lang="es-419" sz="7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Canva</a:t>
            </a: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genera y edita imágenes con IA.</a:t>
            </a:r>
            <a:endParaRPr sz="7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3012300" y="2958500"/>
            <a:ext cx="1002300" cy="2769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 INDEPENDIENTE</a:t>
            </a:r>
            <a:endParaRPr sz="6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613725" y="3293019"/>
            <a:ext cx="137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DALL·E 3</a:t>
            </a:r>
            <a:endParaRPr sz="120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440625" y="3662319"/>
            <a:ext cx="14235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Generación desde texto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7" name="Google Shape;257;p20" title="Recurso 13@300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484349" y="3426468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0"/>
          <p:cNvSpPr txBox="1"/>
          <p:nvPr/>
        </p:nvSpPr>
        <p:spPr>
          <a:xfrm>
            <a:off x="377900" y="3988425"/>
            <a:ext cx="22947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Incluido en </a:t>
            </a:r>
            <a:r>
              <a:rPr lang="es-419" sz="7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ChatGPT</a:t>
            </a: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Plus de la conjunta. Para generar imágenes rápidas sin salir del </a:t>
            </a:r>
            <a:r>
              <a:rPr lang="es-419" sz="7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workflow</a:t>
            </a: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</a:t>
            </a:r>
            <a:r>
              <a:rPr lang="es-419" sz="7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ChatGPT</a:t>
            </a: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7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3354950" y="3293025"/>
            <a:ext cx="218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NANO BANANA (GOOGLE)</a:t>
            </a:r>
            <a:endParaRPr sz="120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3181850" y="3662325"/>
            <a:ext cx="14235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Consistencia de marca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1" name="Google Shape;261;p20" title="Recurso 13@300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3225574" y="3426468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 txBox="1"/>
          <p:nvPr/>
        </p:nvSpPr>
        <p:spPr>
          <a:xfrm>
            <a:off x="3119125" y="3988419"/>
            <a:ext cx="21810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 imágenes 4K manteniendo la consistencia de personaje o estilo en todos los assets. Gratis en Google Labs.</a:t>
            </a:r>
            <a:endParaRPr sz="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5771025" y="2938874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6113675" y="3273394"/>
            <a:ext cx="20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ADOBE FIREFLY</a:t>
            </a:r>
            <a:endParaRPr sz="120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5940575" y="3642700"/>
            <a:ext cx="14235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Uso comercial 100% legal</a:t>
            </a:r>
            <a:endParaRPr sz="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6" name="Google Shape;266;p20" title="Recurso 13@300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5984299" y="3406843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0"/>
          <p:cNvSpPr txBox="1"/>
          <p:nvPr/>
        </p:nvSpPr>
        <p:spPr>
          <a:xfrm>
            <a:off x="5877850" y="3912349"/>
            <a:ext cx="22374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Entrenado solo con imágenes con licencia. Para clientes que necesitan activos sin riesgo legal. Plan gratis disponible.</a:t>
            </a:r>
            <a:endParaRPr sz="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9" name="Google Shape;269;p20">
            <a:hlinkClick r:id="rId6"/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538725" y="1167500"/>
            <a:ext cx="129375" cy="1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0">
            <a:hlinkClick r:id="rId7"/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01525" y="1167500"/>
            <a:ext cx="129375" cy="1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0">
            <a:hlinkClick r:id="rId8"/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064325" y="1167500"/>
            <a:ext cx="129375" cy="1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0">
            <a:hlinkClick r:id="rId9"/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538725" y="3032263"/>
            <a:ext cx="129375" cy="1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0">
            <a:hlinkClick r:id="rId10"/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01525" y="3032263"/>
            <a:ext cx="129375" cy="1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0">
            <a:hlinkClick r:id="rId12"/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064325" y="3013813"/>
            <a:ext cx="129375" cy="1293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44;p20">
            <a:extLst>
              <a:ext uri="{FF2B5EF4-FFF2-40B4-BE49-F238E27FC236}">
                <a16:creationId xmlns:a16="http://schemas.microsoft.com/office/drawing/2014/main" id="{0274B4DE-4EC9-C0B4-C40A-01770B58BFCE}"/>
              </a:ext>
            </a:extLst>
          </p:cNvPr>
          <p:cNvSpPr txBox="1"/>
          <p:nvPr/>
        </p:nvSpPr>
        <p:spPr>
          <a:xfrm>
            <a:off x="5771025" y="2924769"/>
            <a:ext cx="838800" cy="276900"/>
          </a:xfrm>
          <a:prstGeom prst="rect">
            <a:avLst/>
          </a:prstGeom>
          <a:solidFill>
            <a:srgbClr val="FFD65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YA LO TIENES</a:t>
            </a:r>
            <a:endParaRPr sz="6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166;p17" descr="image.png">
            <a:extLst>
              <a:ext uri="{FF2B5EF4-FFF2-40B4-BE49-F238E27FC236}">
                <a16:creationId xmlns:a16="http://schemas.microsoft.com/office/drawing/2014/main" id="{B071AAEF-013D-6ECA-C099-96107D44812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/>
          <p:nvPr/>
        </p:nvSpPr>
        <p:spPr>
          <a:xfrm rot="10800000" flipH="1">
            <a:off x="0" y="125"/>
            <a:ext cx="8279400" cy="816300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270800" y="4736375"/>
            <a:ext cx="254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es-419" sz="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PROPIEDAD GRÁFICA E INTELECTUAL. TODOS LOS DERECHOS RESERVADOS </a:t>
            </a:r>
            <a:r>
              <a:rPr lang="es-419" sz="500" b="0" i="0" u="none" strike="noStrike" cap="none">
                <a:solidFill>
                  <a:srgbClr val="202124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®</a:t>
            </a:r>
            <a:r>
              <a:rPr lang="es-419" sz="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1000" b="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27" name="Google Shape;22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226641" y="643185"/>
            <a:ext cx="973743" cy="1625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8" name="Google Shape;228;p20"/>
          <p:cNvCxnSpPr>
            <a:stCxn id="227" idx="1"/>
            <a:endCxn id="229" idx="0"/>
          </p:cNvCxnSpPr>
          <p:nvPr/>
        </p:nvCxnSpPr>
        <p:spPr>
          <a:xfrm>
            <a:off x="8713512" y="1211328"/>
            <a:ext cx="0" cy="329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9" name="Google Shape;229;p20"/>
          <p:cNvSpPr txBox="1"/>
          <p:nvPr/>
        </p:nvSpPr>
        <p:spPr>
          <a:xfrm>
            <a:off x="8529750" y="4502900"/>
            <a:ext cx="367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270800" y="74550"/>
            <a:ext cx="2370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DISEÑO UI</a:t>
            </a:r>
            <a:endParaRPr sz="3000" dirty="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3082750" y="115038"/>
            <a:ext cx="4124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Herramientas para diseñar, prototipar y generar </a:t>
            </a:r>
            <a:r>
              <a:rPr lang="es-419" sz="1300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</a:t>
            </a:r>
            <a:r>
              <a:rPr lang="es-419" sz="13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visuales</a:t>
            </a:r>
            <a:endParaRPr sz="13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32" name="Google Shape;232;p20"/>
          <p:cNvCxnSpPr/>
          <p:nvPr/>
        </p:nvCxnSpPr>
        <p:spPr>
          <a:xfrm>
            <a:off x="2796500" y="209400"/>
            <a:ext cx="0" cy="376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3" name="Google Shape;233;p20"/>
          <p:cNvSpPr/>
          <p:nvPr/>
        </p:nvSpPr>
        <p:spPr>
          <a:xfrm>
            <a:off x="270800" y="1064650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613725" y="1383919"/>
            <a:ext cx="1551000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CLAUDE DESIGN</a:t>
            </a:r>
            <a:endParaRPr sz="1200" dirty="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440625" y="1741936"/>
            <a:ext cx="17241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Diseño UI e interfaces con IA</a:t>
            </a:r>
            <a:endParaRPr sz="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1" name="Google Shape;241;p20" title="Recurso 13@300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484349" y="1517368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0"/>
          <p:cNvSpPr txBox="1"/>
          <p:nvPr/>
        </p:nvSpPr>
        <p:spPr>
          <a:xfrm>
            <a:off x="377900" y="2000302"/>
            <a:ext cx="22632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</a:t>
            </a:r>
            <a:r>
              <a:rPr lang="es-419" sz="7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</a:t>
            </a: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creativos únicos de alta calidad. El estándar para contenido visual de marcas. Disponible en tu plan SEO Conjuntas.</a:t>
            </a:r>
            <a:endParaRPr sz="7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9" name="Google Shape;269;p20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8725" y="1167500"/>
            <a:ext cx="129375" cy="1293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314;p21">
            <a:extLst>
              <a:ext uri="{FF2B5EF4-FFF2-40B4-BE49-F238E27FC236}">
                <a16:creationId xmlns:a16="http://schemas.microsoft.com/office/drawing/2014/main" id="{B413F80D-DA57-FD61-AEEF-6282ACF82FF7}"/>
              </a:ext>
            </a:extLst>
          </p:cNvPr>
          <p:cNvSpPr/>
          <p:nvPr/>
        </p:nvSpPr>
        <p:spPr>
          <a:xfrm>
            <a:off x="3001618" y="1059979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15;p21">
            <a:extLst>
              <a:ext uri="{FF2B5EF4-FFF2-40B4-BE49-F238E27FC236}">
                <a16:creationId xmlns:a16="http://schemas.microsoft.com/office/drawing/2014/main" id="{08069B7A-A1B9-7A64-C03F-3CD1782DEE3E}"/>
              </a:ext>
            </a:extLst>
          </p:cNvPr>
          <p:cNvSpPr txBox="1"/>
          <p:nvPr/>
        </p:nvSpPr>
        <p:spPr>
          <a:xfrm>
            <a:off x="3344268" y="1394499"/>
            <a:ext cx="20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GENSPARK AI</a:t>
            </a:r>
            <a:endParaRPr sz="1200" dirty="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" name="Google Shape;316;p21">
            <a:extLst>
              <a:ext uri="{FF2B5EF4-FFF2-40B4-BE49-F238E27FC236}">
                <a16:creationId xmlns:a16="http://schemas.microsoft.com/office/drawing/2014/main" id="{1A0530E7-484E-8E7A-0AE8-A1B5F213C9C3}"/>
              </a:ext>
            </a:extLst>
          </p:cNvPr>
          <p:cNvSpPr txBox="1"/>
          <p:nvPr/>
        </p:nvSpPr>
        <p:spPr>
          <a:xfrm>
            <a:off x="3171168" y="1763805"/>
            <a:ext cx="18393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Workspace agente · todo en uno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" name="Google Shape;317;p21" title="Recurso 13@300x.png">
            <a:extLst>
              <a:ext uri="{FF2B5EF4-FFF2-40B4-BE49-F238E27FC236}">
                <a16:creationId xmlns:a16="http://schemas.microsoft.com/office/drawing/2014/main" id="{16C1B959-3985-0147-F092-1C3F5F909C0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3214892" y="1527948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18;p21">
            <a:extLst>
              <a:ext uri="{FF2B5EF4-FFF2-40B4-BE49-F238E27FC236}">
                <a16:creationId xmlns:a16="http://schemas.microsoft.com/office/drawing/2014/main" id="{A0504E13-83C0-8CA1-3590-1F508690D5C9}"/>
              </a:ext>
            </a:extLst>
          </p:cNvPr>
          <p:cNvSpPr txBox="1"/>
          <p:nvPr/>
        </p:nvSpPr>
        <p:spPr>
          <a:xfrm>
            <a:off x="3108443" y="2089899"/>
            <a:ext cx="22374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agencias que quieren máxima potencia: slides, research, imágenes y video desde un solo prompt. Plan gratuito disponible.</a:t>
            </a:r>
            <a:endParaRPr sz="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" name="Google Shape;319;p21">
            <a:extLst>
              <a:ext uri="{FF2B5EF4-FFF2-40B4-BE49-F238E27FC236}">
                <a16:creationId xmlns:a16="http://schemas.microsoft.com/office/drawing/2014/main" id="{35B3FBDB-E117-D367-B47B-3FDC081E7D61}"/>
              </a:ext>
            </a:extLst>
          </p:cNvPr>
          <p:cNvSpPr txBox="1"/>
          <p:nvPr/>
        </p:nvSpPr>
        <p:spPr>
          <a:xfrm>
            <a:off x="3001618" y="1061155"/>
            <a:ext cx="1002300" cy="2769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 INDEPENDIENTE</a:t>
            </a:r>
            <a:endParaRPr sz="6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" name="Google Shape;328;p21">
            <a:extLst>
              <a:ext uri="{FF2B5EF4-FFF2-40B4-BE49-F238E27FC236}">
                <a16:creationId xmlns:a16="http://schemas.microsoft.com/office/drawing/2014/main" id="{3FCC56D4-3958-7DF2-1540-E110AAECC15A}"/>
              </a:ext>
            </a:extLst>
            <a:hlinkClick r:id="rId7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4918" y="1134918"/>
            <a:ext cx="129375" cy="12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319;p21">
            <a:extLst>
              <a:ext uri="{FF2B5EF4-FFF2-40B4-BE49-F238E27FC236}">
                <a16:creationId xmlns:a16="http://schemas.microsoft.com/office/drawing/2014/main" id="{94E08CD3-B67C-82E8-1662-B0506F0485B5}"/>
              </a:ext>
            </a:extLst>
          </p:cNvPr>
          <p:cNvSpPr txBox="1"/>
          <p:nvPr/>
        </p:nvSpPr>
        <p:spPr>
          <a:xfrm>
            <a:off x="271564" y="1059979"/>
            <a:ext cx="1002300" cy="2769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 INDEPENDIENTE</a:t>
            </a:r>
            <a:endParaRPr sz="6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" name="Google Shape;233;p20">
            <a:extLst>
              <a:ext uri="{FF2B5EF4-FFF2-40B4-BE49-F238E27FC236}">
                <a16:creationId xmlns:a16="http://schemas.microsoft.com/office/drawing/2014/main" id="{82CC0E99-4AE7-8FBF-A048-046D948D4A27}"/>
              </a:ext>
            </a:extLst>
          </p:cNvPr>
          <p:cNvSpPr/>
          <p:nvPr/>
        </p:nvSpPr>
        <p:spPr>
          <a:xfrm>
            <a:off x="5763762" y="1064650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39;p20">
            <a:extLst>
              <a:ext uri="{FF2B5EF4-FFF2-40B4-BE49-F238E27FC236}">
                <a16:creationId xmlns:a16="http://schemas.microsoft.com/office/drawing/2014/main" id="{B4CBA584-55A5-EA8A-ACBE-0ABBD95DA9F1}"/>
              </a:ext>
            </a:extLst>
          </p:cNvPr>
          <p:cNvSpPr txBox="1"/>
          <p:nvPr/>
        </p:nvSpPr>
        <p:spPr>
          <a:xfrm>
            <a:off x="6106687" y="1395208"/>
            <a:ext cx="1551000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419" sz="1200" dirty="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Stitch (Google)</a:t>
            </a:r>
            <a:endParaRPr sz="1200" dirty="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" name="Google Shape;240;p20">
            <a:extLst>
              <a:ext uri="{FF2B5EF4-FFF2-40B4-BE49-F238E27FC236}">
                <a16:creationId xmlns:a16="http://schemas.microsoft.com/office/drawing/2014/main" id="{36EC904F-19BE-1EEE-9C7A-851EA5728DF4}"/>
              </a:ext>
            </a:extLst>
          </p:cNvPr>
          <p:cNvSpPr txBox="1"/>
          <p:nvPr/>
        </p:nvSpPr>
        <p:spPr>
          <a:xfrm>
            <a:off x="5933587" y="1753225"/>
            <a:ext cx="17241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Diseño UI e interfaces con IA</a:t>
            </a:r>
            <a:endParaRPr sz="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" name="Google Shape;241;p20" title="Recurso 13@300x.png">
            <a:extLst>
              <a:ext uri="{FF2B5EF4-FFF2-40B4-BE49-F238E27FC236}">
                <a16:creationId xmlns:a16="http://schemas.microsoft.com/office/drawing/2014/main" id="{4F74DF0F-C95F-6E38-CA5B-96069F59C87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977311" y="1528657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42;p20">
            <a:extLst>
              <a:ext uri="{FF2B5EF4-FFF2-40B4-BE49-F238E27FC236}">
                <a16:creationId xmlns:a16="http://schemas.microsoft.com/office/drawing/2014/main" id="{362466EB-5B52-9BE9-A820-F4A8DEB8AE90}"/>
              </a:ext>
            </a:extLst>
          </p:cNvPr>
          <p:cNvSpPr txBox="1"/>
          <p:nvPr/>
        </p:nvSpPr>
        <p:spPr>
          <a:xfrm>
            <a:off x="5849562" y="2087782"/>
            <a:ext cx="2263200" cy="55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</a:t>
            </a:r>
            <a:r>
              <a:rPr lang="es-419" sz="7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</a:t>
            </a: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creativos únicos de alta calidad. El estándar para contenido visual de marcas. Disponible en tu plan SEO Conjuntas.</a:t>
            </a:r>
            <a:endParaRPr sz="7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" name="Google Shape;269;p20">
            <a:extLst>
              <a:ext uri="{FF2B5EF4-FFF2-40B4-BE49-F238E27FC236}">
                <a16:creationId xmlns:a16="http://schemas.microsoft.com/office/drawing/2014/main" id="{14397A6A-395E-3E9A-BB81-70586EB2AFEE}"/>
              </a:ext>
            </a:extLst>
            <a:hlinkClick r:id="rId8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31687" y="1178789"/>
            <a:ext cx="129375" cy="129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9;p21">
            <a:extLst>
              <a:ext uri="{FF2B5EF4-FFF2-40B4-BE49-F238E27FC236}">
                <a16:creationId xmlns:a16="http://schemas.microsoft.com/office/drawing/2014/main" id="{907B993F-93B1-2D14-C0CC-03BF78ABCE47}"/>
              </a:ext>
            </a:extLst>
          </p:cNvPr>
          <p:cNvSpPr txBox="1"/>
          <p:nvPr/>
        </p:nvSpPr>
        <p:spPr>
          <a:xfrm>
            <a:off x="5775815" y="1071268"/>
            <a:ext cx="1002300" cy="2769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 INDEPENDIENTE</a:t>
            </a:r>
            <a:endParaRPr sz="6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" name="Google Shape;233;p20">
            <a:extLst>
              <a:ext uri="{FF2B5EF4-FFF2-40B4-BE49-F238E27FC236}">
                <a16:creationId xmlns:a16="http://schemas.microsoft.com/office/drawing/2014/main" id="{6CA844A9-7880-E0B3-58BB-169ECDB2C00F}"/>
              </a:ext>
            </a:extLst>
          </p:cNvPr>
          <p:cNvSpPr/>
          <p:nvPr/>
        </p:nvSpPr>
        <p:spPr>
          <a:xfrm>
            <a:off x="258039" y="2960327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239;p20">
            <a:extLst>
              <a:ext uri="{FF2B5EF4-FFF2-40B4-BE49-F238E27FC236}">
                <a16:creationId xmlns:a16="http://schemas.microsoft.com/office/drawing/2014/main" id="{958618EF-E150-CA3A-91A0-F0EC2F008ED6}"/>
              </a:ext>
            </a:extLst>
          </p:cNvPr>
          <p:cNvSpPr txBox="1"/>
          <p:nvPr/>
        </p:nvSpPr>
        <p:spPr>
          <a:xfrm>
            <a:off x="589675" y="3290885"/>
            <a:ext cx="1551000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419" sz="1200" dirty="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Vo</a:t>
            </a:r>
            <a:endParaRPr sz="1200" dirty="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7" name="Google Shape;240;p20">
            <a:extLst>
              <a:ext uri="{FF2B5EF4-FFF2-40B4-BE49-F238E27FC236}">
                <a16:creationId xmlns:a16="http://schemas.microsoft.com/office/drawing/2014/main" id="{E34C0E8F-0D76-701D-CE1F-6AB80D1BD291}"/>
              </a:ext>
            </a:extLst>
          </p:cNvPr>
          <p:cNvSpPr txBox="1"/>
          <p:nvPr/>
        </p:nvSpPr>
        <p:spPr>
          <a:xfrm>
            <a:off x="416575" y="3648902"/>
            <a:ext cx="1724100" cy="32621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PE" sz="800" dirty="0"/>
              <a:t>Genera interfaces</a:t>
            </a:r>
            <a:endParaRPr sz="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" name="Google Shape;241;p20" title="Recurso 13@300x.png">
            <a:extLst>
              <a:ext uri="{FF2B5EF4-FFF2-40B4-BE49-F238E27FC236}">
                <a16:creationId xmlns:a16="http://schemas.microsoft.com/office/drawing/2014/main" id="{3C20C9F4-F7AB-B806-AAB6-D82DF78261E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460299" y="3424334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242;p20">
            <a:extLst>
              <a:ext uri="{FF2B5EF4-FFF2-40B4-BE49-F238E27FC236}">
                <a16:creationId xmlns:a16="http://schemas.microsoft.com/office/drawing/2014/main" id="{D29B192B-E986-3E04-76B9-4C6C0DDFD569}"/>
              </a:ext>
            </a:extLst>
          </p:cNvPr>
          <p:cNvSpPr txBox="1"/>
          <p:nvPr/>
        </p:nvSpPr>
        <p:spPr>
          <a:xfrm>
            <a:off x="332550" y="3972170"/>
            <a:ext cx="22632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PE" sz="800" dirty="0"/>
              <a:t>Sube capturas de pantalla, bocetos o comparte ideas en texto. Genera componentes limpios en </a:t>
            </a:r>
            <a:r>
              <a:rPr lang="es-PE" sz="800" dirty="0" err="1"/>
              <a:t>React</a:t>
            </a:r>
            <a:r>
              <a:rPr lang="es-PE" sz="800" dirty="0"/>
              <a:t> y </a:t>
            </a:r>
            <a:r>
              <a:rPr lang="es-PE" sz="800" dirty="0" err="1"/>
              <a:t>Tailwind</a:t>
            </a:r>
            <a:endParaRPr sz="7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3" name="Google Shape;269;p20">
            <a:extLst>
              <a:ext uri="{FF2B5EF4-FFF2-40B4-BE49-F238E27FC236}">
                <a16:creationId xmlns:a16="http://schemas.microsoft.com/office/drawing/2014/main" id="{8BFB0FA0-8620-657B-3C97-CACD8B473684}"/>
              </a:ext>
            </a:extLst>
            <a:hlinkClick r:id="rId9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14675" y="3074466"/>
            <a:ext cx="129375" cy="1293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319;p21">
            <a:extLst>
              <a:ext uri="{FF2B5EF4-FFF2-40B4-BE49-F238E27FC236}">
                <a16:creationId xmlns:a16="http://schemas.microsoft.com/office/drawing/2014/main" id="{66556567-045A-46FC-9D51-983B0D130978}"/>
              </a:ext>
            </a:extLst>
          </p:cNvPr>
          <p:cNvSpPr txBox="1"/>
          <p:nvPr/>
        </p:nvSpPr>
        <p:spPr>
          <a:xfrm>
            <a:off x="258803" y="2966945"/>
            <a:ext cx="1002300" cy="2769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 INDEPENDIENTE</a:t>
            </a:r>
            <a:endParaRPr sz="6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233;p20">
            <a:extLst>
              <a:ext uri="{FF2B5EF4-FFF2-40B4-BE49-F238E27FC236}">
                <a16:creationId xmlns:a16="http://schemas.microsoft.com/office/drawing/2014/main" id="{0BA0F850-E779-7E54-EB06-662644C72706}"/>
              </a:ext>
            </a:extLst>
          </p:cNvPr>
          <p:cNvSpPr/>
          <p:nvPr/>
        </p:nvSpPr>
        <p:spPr>
          <a:xfrm>
            <a:off x="3001618" y="2966945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239;p20">
            <a:extLst>
              <a:ext uri="{FF2B5EF4-FFF2-40B4-BE49-F238E27FC236}">
                <a16:creationId xmlns:a16="http://schemas.microsoft.com/office/drawing/2014/main" id="{FEBFBDA2-9264-7901-83FE-4C6DABAF6CAE}"/>
              </a:ext>
            </a:extLst>
          </p:cNvPr>
          <p:cNvSpPr txBox="1"/>
          <p:nvPr/>
        </p:nvSpPr>
        <p:spPr>
          <a:xfrm>
            <a:off x="3333254" y="3297503"/>
            <a:ext cx="1551000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419" sz="1200" dirty="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Anima</a:t>
            </a:r>
            <a:endParaRPr sz="1200" dirty="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1" name="Google Shape;240;p20">
            <a:extLst>
              <a:ext uri="{FF2B5EF4-FFF2-40B4-BE49-F238E27FC236}">
                <a16:creationId xmlns:a16="http://schemas.microsoft.com/office/drawing/2014/main" id="{0E13F7DD-D367-A035-D12D-459C52D818D6}"/>
              </a:ext>
            </a:extLst>
          </p:cNvPr>
          <p:cNvSpPr txBox="1"/>
          <p:nvPr/>
        </p:nvSpPr>
        <p:spPr>
          <a:xfrm>
            <a:off x="3160154" y="3655520"/>
            <a:ext cx="2260446" cy="32621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PE" sz="800" dirty="0"/>
              <a:t>Transforma diseños de </a:t>
            </a:r>
            <a:r>
              <a:rPr lang="es-PE" sz="800" dirty="0" err="1"/>
              <a:t>Figma</a:t>
            </a:r>
            <a:r>
              <a:rPr lang="es-PE" sz="800" dirty="0"/>
              <a:t> en código vivo</a:t>
            </a:r>
            <a:endParaRPr sz="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3" name="Google Shape;241;p20" title="Recurso 13@300x.png">
            <a:extLst>
              <a:ext uri="{FF2B5EF4-FFF2-40B4-BE49-F238E27FC236}">
                <a16:creationId xmlns:a16="http://schemas.microsoft.com/office/drawing/2014/main" id="{8D3513D6-87C3-F42F-3253-777F8459DBA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3203878" y="3430952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242;p20">
            <a:extLst>
              <a:ext uri="{FF2B5EF4-FFF2-40B4-BE49-F238E27FC236}">
                <a16:creationId xmlns:a16="http://schemas.microsoft.com/office/drawing/2014/main" id="{18172166-D6BB-8671-1B4D-E69ED3C08709}"/>
              </a:ext>
            </a:extLst>
          </p:cNvPr>
          <p:cNvSpPr txBox="1"/>
          <p:nvPr/>
        </p:nvSpPr>
        <p:spPr>
          <a:xfrm>
            <a:off x="3076129" y="3978788"/>
            <a:ext cx="22632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PE" sz="800" dirty="0"/>
              <a:t>Conecta tus lienzos de diseño directamente con tu entorno de desarrollo. Convierte componentes visuales en código modular.</a:t>
            </a:r>
            <a:endParaRPr sz="7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5" name="Google Shape;269;p20">
            <a:extLst>
              <a:ext uri="{FF2B5EF4-FFF2-40B4-BE49-F238E27FC236}">
                <a16:creationId xmlns:a16="http://schemas.microsoft.com/office/drawing/2014/main" id="{EA67595A-2A60-2254-2E7A-5EC939AFBAB3}"/>
              </a:ext>
            </a:extLst>
            <a:hlinkClick r:id="rId10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8254" y="3081084"/>
            <a:ext cx="129375" cy="12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319;p21">
            <a:extLst>
              <a:ext uri="{FF2B5EF4-FFF2-40B4-BE49-F238E27FC236}">
                <a16:creationId xmlns:a16="http://schemas.microsoft.com/office/drawing/2014/main" id="{32CCB5E5-EC63-5351-F2C0-B47AB47A4A73}"/>
              </a:ext>
            </a:extLst>
          </p:cNvPr>
          <p:cNvSpPr txBox="1"/>
          <p:nvPr/>
        </p:nvSpPr>
        <p:spPr>
          <a:xfrm>
            <a:off x="3002382" y="2973563"/>
            <a:ext cx="1002300" cy="2769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 INDEPENDIENTE</a:t>
            </a:r>
            <a:endParaRPr sz="6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9" name="Google Shape;233;p20">
            <a:extLst>
              <a:ext uri="{FF2B5EF4-FFF2-40B4-BE49-F238E27FC236}">
                <a16:creationId xmlns:a16="http://schemas.microsoft.com/office/drawing/2014/main" id="{D58EEC3A-6B78-7FAB-FF58-1D40E9A426A8}"/>
              </a:ext>
            </a:extLst>
          </p:cNvPr>
          <p:cNvSpPr/>
          <p:nvPr/>
        </p:nvSpPr>
        <p:spPr>
          <a:xfrm>
            <a:off x="5752236" y="2948663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39;p20">
            <a:extLst>
              <a:ext uri="{FF2B5EF4-FFF2-40B4-BE49-F238E27FC236}">
                <a16:creationId xmlns:a16="http://schemas.microsoft.com/office/drawing/2014/main" id="{22860DDE-E1FE-FF01-6B59-DE1DE6D951A9}"/>
              </a:ext>
            </a:extLst>
          </p:cNvPr>
          <p:cNvSpPr txBox="1"/>
          <p:nvPr/>
        </p:nvSpPr>
        <p:spPr>
          <a:xfrm>
            <a:off x="6083872" y="3279221"/>
            <a:ext cx="1551000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PE" sz="1200" dirty="0"/>
              <a:t>Galileo AI</a:t>
            </a:r>
            <a:endParaRPr sz="1200" dirty="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3" name="Google Shape;240;p20">
            <a:extLst>
              <a:ext uri="{FF2B5EF4-FFF2-40B4-BE49-F238E27FC236}">
                <a16:creationId xmlns:a16="http://schemas.microsoft.com/office/drawing/2014/main" id="{758938EC-1C8B-F4C0-4467-2D96AC2C79F1}"/>
              </a:ext>
            </a:extLst>
          </p:cNvPr>
          <p:cNvSpPr txBox="1"/>
          <p:nvPr/>
        </p:nvSpPr>
        <p:spPr>
          <a:xfrm>
            <a:off x="5910772" y="3637238"/>
            <a:ext cx="2260446" cy="32621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PE" sz="800" dirty="0"/>
              <a:t>Crea interfaces completas</a:t>
            </a:r>
            <a:endParaRPr sz="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5" name="Google Shape;241;p20" title="Recurso 13@300x.png">
            <a:extLst>
              <a:ext uri="{FF2B5EF4-FFF2-40B4-BE49-F238E27FC236}">
                <a16:creationId xmlns:a16="http://schemas.microsoft.com/office/drawing/2014/main" id="{BDF7B215-95C5-5232-7C44-6118D1689D5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954496" y="3412670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42;p20">
            <a:extLst>
              <a:ext uri="{FF2B5EF4-FFF2-40B4-BE49-F238E27FC236}">
                <a16:creationId xmlns:a16="http://schemas.microsoft.com/office/drawing/2014/main" id="{FF08B16D-B4E2-68CF-69B3-637074DF0F3B}"/>
              </a:ext>
            </a:extLst>
          </p:cNvPr>
          <p:cNvSpPr txBox="1"/>
          <p:nvPr/>
        </p:nvSpPr>
        <p:spPr>
          <a:xfrm>
            <a:off x="5826747" y="3960506"/>
            <a:ext cx="22632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PE" sz="800" dirty="0"/>
              <a:t>Genera diseños UI de alta fidelidad para aplicaciones móviles y web a partir de un simple </a:t>
            </a:r>
            <a:r>
              <a:rPr lang="es-PE" sz="800" dirty="0" err="1"/>
              <a:t>prompt</a:t>
            </a:r>
            <a:r>
              <a:rPr lang="es-PE" sz="800" dirty="0"/>
              <a:t> de texto..</a:t>
            </a:r>
            <a:endParaRPr sz="7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9" name="Google Shape;269;p20">
            <a:extLst>
              <a:ext uri="{FF2B5EF4-FFF2-40B4-BE49-F238E27FC236}">
                <a16:creationId xmlns:a16="http://schemas.microsoft.com/office/drawing/2014/main" id="{38548806-FE51-6EA9-30E7-56FDE13C1910}"/>
              </a:ext>
            </a:extLst>
            <a:hlinkClick r:id="rId11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08872" y="3062802"/>
            <a:ext cx="129375" cy="129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319;p21">
            <a:extLst>
              <a:ext uri="{FF2B5EF4-FFF2-40B4-BE49-F238E27FC236}">
                <a16:creationId xmlns:a16="http://schemas.microsoft.com/office/drawing/2014/main" id="{005E8195-5DC8-C78B-68A0-2B71E2D081A3}"/>
              </a:ext>
            </a:extLst>
          </p:cNvPr>
          <p:cNvSpPr txBox="1"/>
          <p:nvPr/>
        </p:nvSpPr>
        <p:spPr>
          <a:xfrm>
            <a:off x="5753000" y="2955281"/>
            <a:ext cx="1002300" cy="2769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 INDEPENDIENTE</a:t>
            </a:r>
            <a:endParaRPr sz="6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66;p17" descr="image.png">
            <a:extLst>
              <a:ext uri="{FF2B5EF4-FFF2-40B4-BE49-F238E27FC236}">
                <a16:creationId xmlns:a16="http://schemas.microsoft.com/office/drawing/2014/main" id="{1D3D7BFA-14B0-C5C0-BA38-C8557AD732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1"/>
          <p:cNvSpPr/>
          <p:nvPr/>
        </p:nvSpPr>
        <p:spPr>
          <a:xfrm rot="10800000" flipH="1">
            <a:off x="0" y="125"/>
            <a:ext cx="8279400" cy="816300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270800" y="4736375"/>
            <a:ext cx="254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es-419" sz="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PROPIEDAD GRÁFICA E INTELECTUAL. TODOS LOS DERECHOS RESERVADOS </a:t>
            </a:r>
            <a:r>
              <a:rPr lang="es-419" sz="500" b="0" i="0" u="none" strike="noStrike" cap="none">
                <a:solidFill>
                  <a:srgbClr val="202124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®</a:t>
            </a:r>
            <a:r>
              <a:rPr lang="es-419" sz="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1000" b="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81" name="Google Shape;281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8226641" y="643185"/>
            <a:ext cx="973743" cy="1625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2" name="Google Shape;282;p21"/>
          <p:cNvCxnSpPr>
            <a:stCxn id="281" idx="1"/>
            <a:endCxn id="283" idx="0"/>
          </p:cNvCxnSpPr>
          <p:nvPr/>
        </p:nvCxnSpPr>
        <p:spPr>
          <a:xfrm>
            <a:off x="8713512" y="1211328"/>
            <a:ext cx="0" cy="329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3" name="Google Shape;283;p21"/>
          <p:cNvSpPr txBox="1"/>
          <p:nvPr/>
        </p:nvSpPr>
        <p:spPr>
          <a:xfrm>
            <a:off x="8529750" y="4502900"/>
            <a:ext cx="367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09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270800" y="74550"/>
            <a:ext cx="3388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ASISTENTES</a:t>
            </a:r>
            <a:endParaRPr sz="3000" dirty="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3799450" y="205350"/>
            <a:ext cx="4315800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el día a día, redacción, análisis, estrategia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86" name="Google Shape;286;p21"/>
          <p:cNvCxnSpPr/>
          <p:nvPr/>
        </p:nvCxnSpPr>
        <p:spPr>
          <a:xfrm>
            <a:off x="3599450" y="209400"/>
            <a:ext cx="0" cy="376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7" name="Google Shape;287;p21"/>
          <p:cNvSpPr/>
          <p:nvPr/>
        </p:nvSpPr>
        <p:spPr>
          <a:xfrm>
            <a:off x="270800" y="1064650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3012300" y="1064650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1"/>
          <p:cNvSpPr/>
          <p:nvPr/>
        </p:nvSpPr>
        <p:spPr>
          <a:xfrm>
            <a:off x="5753800" y="1064650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270800" y="2958499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3012300" y="2958499"/>
            <a:ext cx="2525700" cy="16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270800" y="1064650"/>
            <a:ext cx="838800" cy="276900"/>
          </a:xfrm>
          <a:prstGeom prst="rect">
            <a:avLst/>
          </a:prstGeom>
          <a:solidFill>
            <a:srgbClr val="FFD65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YA LO TIENES</a:t>
            </a:r>
            <a:endParaRPr sz="6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613725" y="1383925"/>
            <a:ext cx="1669500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CHAT GPT PLUS</a:t>
            </a:r>
            <a:endParaRPr sz="1200" dirty="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440625" y="1753225"/>
            <a:ext cx="12792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Uso general · #1 global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5" name="Google Shape;295;p21" title="Recurso 13@300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484349" y="1517368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1"/>
          <p:cNvSpPr txBox="1"/>
          <p:nvPr/>
        </p:nvSpPr>
        <p:spPr>
          <a:xfrm>
            <a:off x="377900" y="2079325"/>
            <a:ext cx="20760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Ya incluido en SEO Conjuntas. Para todo: redacción, análisis, presentaciones, resúmenes. El punto de entrada para el equipo.</a:t>
            </a:r>
            <a:endParaRPr sz="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3355225" y="1383919"/>
            <a:ext cx="183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CLAUDE</a:t>
            </a:r>
            <a:endParaRPr sz="120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3182125" y="1753219"/>
            <a:ext cx="16695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Análisis profundo · textos largos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9" name="Google Shape;299;p21" title="Recurso 13@300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3225849" y="1517368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1"/>
          <p:cNvSpPr txBox="1"/>
          <p:nvPr/>
        </p:nvSpPr>
        <p:spPr>
          <a:xfrm>
            <a:off x="3119400" y="2079325"/>
            <a:ext cx="22374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mejor para redactar con precisión, analizar documentos extensos y estrategia de contenido. Plan gratis muy generoso.</a:t>
            </a:r>
            <a:endParaRPr sz="7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6096725" y="1383919"/>
            <a:ext cx="1839300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GEMINI</a:t>
            </a:r>
            <a:endParaRPr sz="1200" dirty="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5923625" y="1753225"/>
            <a:ext cx="2103600" cy="315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5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Integrado con Google </a:t>
            </a:r>
            <a:r>
              <a:rPr lang="es-419" sz="85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Workspace</a:t>
            </a:r>
            <a:endParaRPr sz="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3" name="Google Shape;303;p21" title="Recurso 13@300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5967349" y="1517368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1"/>
          <p:cNvSpPr txBox="1"/>
          <p:nvPr/>
        </p:nvSpPr>
        <p:spPr>
          <a:xfrm>
            <a:off x="5860900" y="2079319"/>
            <a:ext cx="21036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 el equipo usa Gmail, Drive o Docs, Gemini analiza correos, resume documentos y trabaja directo en Google. $20/mes o gratis básico.</a:t>
            </a:r>
            <a:endParaRPr sz="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613725" y="3293025"/>
            <a:ext cx="1535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 dirty="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PERPLEXITY AI</a:t>
            </a:r>
            <a:endParaRPr sz="1200" dirty="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440625" y="3662325"/>
            <a:ext cx="17412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Investigación con fuentes reales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8" name="Google Shape;308;p21" title="Recurso 13@300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484349" y="3426468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1"/>
          <p:cNvSpPr txBox="1"/>
          <p:nvPr/>
        </p:nvSpPr>
        <p:spPr>
          <a:xfrm>
            <a:off x="377900" y="3988425"/>
            <a:ext cx="22947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research de mercado, tendencias y datos con citas verificables. Reemplaza horas de búsqueda antes de briefings. Plan gratis disponible.</a:t>
            </a:r>
            <a:endParaRPr sz="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3354950" y="3293025"/>
            <a:ext cx="218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1A1A2E"/>
                </a:solidFill>
                <a:latin typeface="Merriweather"/>
                <a:ea typeface="Merriweather"/>
                <a:cs typeface="Merriweather"/>
                <a:sym typeface="Merriweather"/>
              </a:rPr>
              <a:t>NOTEBOOKLM</a:t>
            </a:r>
            <a:endParaRPr sz="1200" dirty="0">
              <a:solidFill>
                <a:srgbClr val="1A1A2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3181850" y="3662325"/>
            <a:ext cx="19143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Analiza tus propios documentos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12" name="Google Shape;312;p21" title="Recurso 13@300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3225574" y="3426468"/>
            <a:ext cx="129376" cy="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1"/>
          <p:cNvSpPr txBox="1"/>
          <p:nvPr/>
        </p:nvSpPr>
        <p:spPr>
          <a:xfrm>
            <a:off x="3119125" y="3988425"/>
            <a:ext cx="22947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Sube briefings, informes o documentos de cliente. Genera resúmenes, responde preguntas y crea Audio Overviews (podcast). Gratis de Google.</a:t>
            </a:r>
            <a:endParaRPr sz="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3012300" y="1064650"/>
            <a:ext cx="1002300" cy="2769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 INDEPENDIENTE</a:t>
            </a:r>
            <a:endParaRPr sz="6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270800" y="2958500"/>
            <a:ext cx="1002300" cy="276900"/>
          </a:xfrm>
          <a:prstGeom prst="rect">
            <a:avLst/>
          </a:prstGeom>
          <a:solidFill>
            <a:srgbClr val="57B8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★  INDEPENDIENTE</a:t>
            </a:r>
            <a:endParaRPr sz="6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23" name="Google Shape;323;p21">
            <a:hlinkClick r:id="rId6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38725" y="1167500"/>
            <a:ext cx="129375" cy="1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1">
            <a:hlinkClick r:id="rId7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01525" y="1167500"/>
            <a:ext cx="129375" cy="1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1">
            <a:hlinkClick r:id="rId11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64325" y="1167500"/>
            <a:ext cx="129375" cy="1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1">
            <a:hlinkClick r:id="rId8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38725" y="3032263"/>
            <a:ext cx="129375" cy="1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1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01525" y="3032263"/>
            <a:ext cx="129375" cy="1293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92;p21">
            <a:extLst>
              <a:ext uri="{FF2B5EF4-FFF2-40B4-BE49-F238E27FC236}">
                <a16:creationId xmlns:a16="http://schemas.microsoft.com/office/drawing/2014/main" id="{85FBCF62-DCEF-6DD0-17A8-1B4D714390B1}"/>
              </a:ext>
            </a:extLst>
          </p:cNvPr>
          <p:cNvSpPr txBox="1"/>
          <p:nvPr/>
        </p:nvSpPr>
        <p:spPr>
          <a:xfrm>
            <a:off x="5753800" y="1048689"/>
            <a:ext cx="838800" cy="276900"/>
          </a:xfrm>
          <a:prstGeom prst="rect">
            <a:avLst/>
          </a:prstGeom>
          <a:solidFill>
            <a:srgbClr val="FFD65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YA LO TIENES</a:t>
            </a:r>
            <a:endParaRPr sz="6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Google Shape;292;p21">
            <a:extLst>
              <a:ext uri="{FF2B5EF4-FFF2-40B4-BE49-F238E27FC236}">
                <a16:creationId xmlns:a16="http://schemas.microsoft.com/office/drawing/2014/main" id="{55D0EAD3-C8A8-310A-6214-C01300C7DA93}"/>
              </a:ext>
            </a:extLst>
          </p:cNvPr>
          <p:cNvSpPr txBox="1"/>
          <p:nvPr/>
        </p:nvSpPr>
        <p:spPr>
          <a:xfrm>
            <a:off x="3028331" y="2961207"/>
            <a:ext cx="838800" cy="276900"/>
          </a:xfrm>
          <a:prstGeom prst="rect">
            <a:avLst/>
          </a:prstGeom>
          <a:solidFill>
            <a:srgbClr val="FFD65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YA LO TIENES</a:t>
            </a:r>
            <a:endParaRPr sz="6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32346"/>
            <a:ext cx="2590837" cy="2500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76637" y="1632346"/>
            <a:ext cx="2590837" cy="2500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81775" y="1632346"/>
            <a:ext cx="2590837" cy="250031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707231" y="2153841"/>
            <a:ext cx="2435343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13" dirty="0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Qwen (</a:t>
            </a:r>
            <a:r>
              <a:rPr lang="en-US" sz="1013" dirty="0">
                <a:solidFill>
                  <a:srgbClr val="111827"/>
                </a:solidFill>
                <a:latin typeface="Helvetica Neue" panose="020B0604020202020204" charset="0"/>
                <a:ea typeface="Poppins SemiBold"/>
                <a:cs typeface="Poppins SemiBold"/>
                <a:sym typeface="Poppins SemiBold"/>
              </a:rPr>
              <a:t>Alibaba</a:t>
            </a:r>
            <a:r>
              <a:rPr lang="en-US" sz="1013" dirty="0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)</a:t>
            </a:r>
            <a:endParaRPr sz="1050" dirty="0"/>
          </a:p>
        </p:txBody>
      </p:sp>
      <p:sp>
        <p:nvSpPr>
          <p:cNvPr id="171" name="Google Shape;171;p17"/>
          <p:cNvSpPr txBox="1"/>
          <p:nvPr/>
        </p:nvSpPr>
        <p:spPr>
          <a:xfrm>
            <a:off x="707232" y="2403871"/>
            <a:ext cx="2319374" cy="1018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900" b="1" dirty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Líder de Código Abierto:</a:t>
            </a:r>
            <a:r>
              <a:rPr lang="en-US" sz="900" dirty="0" b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 familia de modelos de Alibaba, destacada por su procesamiento multilingüe y su rendimiento en generación de código y automatización.</a:t>
            </a:r>
            <a:endParaRPr sz="1050" dirty="0">
              <a:latin typeface="Helvetica Neue" panose="020B0604020202020204" charset="0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3412368" y="2153841"/>
            <a:ext cx="2435343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13" dirty="0">
                <a:solidFill>
                  <a:srgbClr val="111827"/>
                </a:solidFill>
                <a:latin typeface="Helvetica Neue" panose="020B0604020202020204" charset="0"/>
                <a:ea typeface="Poppins SemiBold"/>
                <a:cs typeface="Poppins SemiBold"/>
                <a:sym typeface="Poppins SemiBold"/>
              </a:rPr>
              <a:t>DeepSeek</a:t>
            </a:r>
            <a:endParaRPr sz="1050" dirty="0">
              <a:latin typeface="Helvetica Neue" panose="020B0604020202020204" charset="0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3412369" y="2403872"/>
            <a:ext cx="2319374" cy="1018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900" b="1" dirty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Eficiencia Disruptiva:</a:t>
            </a:r>
            <a:r>
              <a:rPr lang="en-US" sz="900" dirty="0" b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 arquitecturas de razonamiento lógico y matemático profundo, con desempeño similar a los líderes occidentales a un costo mucho menor.</a:t>
            </a:r>
            <a:endParaRPr sz="1050" dirty="0">
              <a:latin typeface="Helvetica Neue" panose="020B0604020202020204" charset="0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6117506" y="2153841"/>
            <a:ext cx="2435343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13" dirty="0" err="1">
                <a:solidFill>
                  <a:srgbClr val="111827"/>
                </a:solidFill>
                <a:latin typeface="Helvetica Neue" panose="020B0604020202020204" charset="0"/>
                <a:ea typeface="Poppins SemiBold"/>
                <a:cs typeface="Poppins SemiBold"/>
                <a:sym typeface="Poppins SemiBold"/>
              </a:rPr>
              <a:t>MiniMax</a:t>
            </a:r>
            <a:endParaRPr sz="1050" dirty="0">
              <a:latin typeface="Helvetica Neue" panose="020B0604020202020204" charset="0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6117506" y="2403872"/>
            <a:ext cx="2319374" cy="1018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900" b="1" dirty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Poder Multimodal:</a:t>
            </a:r>
            <a:r>
              <a:rPr lang="en-US" sz="900" dirty="0" b="0">
                <a:solidFill>
                  <a:srgbClr val="4B5563"/>
                </a:solidFill>
                <a:latin typeface="Helvetica Neue" panose="020B0604020202020204" charset="0"/>
                <a:ea typeface="DM Sans"/>
                <a:cs typeface="DM Sans"/>
                <a:sym typeface="DM Sans"/>
              </a:rPr>
              <a:t> startup enfocada en assets generativos, con síntesis de voz fotorrealista y video cinematográfico (Hailuo), ideal para campañas creativas.</a:t>
            </a:r>
            <a:endParaRPr sz="1050" dirty="0">
              <a:latin typeface="Helvetica Neue" panose="020B0604020202020204" charset="0"/>
            </a:endParaRPr>
          </a:p>
        </p:txBody>
      </p:sp>
      <p:pic>
        <p:nvPicPr>
          <p:cNvPr id="176" name="Google Shape;17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7232" y="1818084"/>
            <a:ext cx="250031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12368" y="1818084"/>
            <a:ext cx="178594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17506" y="1818084"/>
            <a:ext cx="2286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714376" y="428625"/>
            <a:ext cx="8251031" cy="32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38" b="1" dirty="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Los </a:t>
            </a:r>
            <a:r>
              <a:rPr lang="en-US" sz="2138" b="1" dirty="0" err="1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Nuevos</a:t>
            </a:r>
            <a:r>
              <a:rPr lang="en-US" sz="2138" b="1" dirty="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 Gigantes de la IA</a:t>
            </a:r>
            <a:endParaRPr sz="1050" dirty="0"/>
          </a:p>
        </p:txBody>
      </p:sp>
      <p:sp>
        <p:nvSpPr>
          <p:cNvPr id="181" name="Google Shape;181;p17"/>
          <p:cNvSpPr txBox="1"/>
          <p:nvPr/>
        </p:nvSpPr>
        <p:spPr>
          <a:xfrm>
            <a:off x="571500" y="4842080"/>
            <a:ext cx="857250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900">
                <a:solidFill>
                  <a:srgbClr val="9CA3AF"/>
                </a:solidFill>
                <a:latin typeface="Times"/>
                <a:ea typeface="Times"/>
                <a:cs typeface="Times"/>
                <a:sym typeface="Times"/>
              </a:rPr>
              <a:t>Orange LATAM · Vanguardia Tecnológica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00">
                <a:solidFill>
                  <a:srgbClr val="9CA3AF"/>
                </a:solidFill>
                <a:latin typeface="Times"/>
                <a:ea typeface="Times"/>
                <a:cs typeface="Times"/>
                <a:sym typeface="Times"/>
              </a:rPr>
              <a:t>05</a:t>
            </a:r>
            <a:endParaRPr sz="1050"/>
          </a:p>
        </p:txBody>
      </p:sp>
      <p:pic>
        <p:nvPicPr>
          <p:cNvPr id="2" name="Google Shape;86;p16">
            <a:extLst>
              <a:ext uri="{FF2B5EF4-FFF2-40B4-BE49-F238E27FC236}">
                <a16:creationId xmlns:a16="http://schemas.microsoft.com/office/drawing/2014/main" id="{C1B6CE63-5808-5064-200A-9FDC20426F8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16200000">
            <a:off x="8226641" y="643185"/>
            <a:ext cx="973743" cy="1625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Google Shape;87;p16">
            <a:extLst>
              <a:ext uri="{FF2B5EF4-FFF2-40B4-BE49-F238E27FC236}">
                <a16:creationId xmlns:a16="http://schemas.microsoft.com/office/drawing/2014/main" id="{83220E3F-BC8C-CD15-D8E0-C1802DBEE3DD}"/>
              </a:ext>
            </a:extLst>
          </p:cNvPr>
          <p:cNvCxnSpPr>
            <a:stCxn id="2" idx="1"/>
          </p:cNvCxnSpPr>
          <p:nvPr/>
        </p:nvCxnSpPr>
        <p:spPr>
          <a:xfrm>
            <a:off x="8713512" y="1211328"/>
            <a:ext cx="0" cy="329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4"/>
          <p:cNvPicPr preferRelativeResize="0"/>
          <p:nvPr/>
        </p:nvPicPr>
        <p:blipFill rotWithShape="1">
          <a:blip r:embed="rId3">
            <a:alphaModFix/>
          </a:blip>
          <a:srcRect b="17376"/>
          <a:stretch/>
        </p:blipFill>
        <p:spPr>
          <a:xfrm>
            <a:off x="2291456" y="2121919"/>
            <a:ext cx="2592151" cy="38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5" name="Google Shape;405;p24"/>
          <p:cNvGrpSpPr/>
          <p:nvPr/>
        </p:nvGrpSpPr>
        <p:grpSpPr>
          <a:xfrm>
            <a:off x="2283587" y="2710781"/>
            <a:ext cx="3206448" cy="1131344"/>
            <a:chOff x="0" y="0"/>
            <a:chExt cx="4275834" cy="1508660"/>
          </a:xfrm>
        </p:grpSpPr>
        <p:sp>
          <p:nvSpPr>
            <p:cNvPr id="406" name="Google Shape;406;p24"/>
            <p:cNvSpPr/>
            <p:nvPr/>
          </p:nvSpPr>
          <p:spPr>
            <a:xfrm>
              <a:off x="450834" y="1139360"/>
              <a:ext cx="3627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419" sz="1100" b="0" i="0" u="none" strike="noStrike" cap="none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ORANGE_LATAM</a:t>
              </a:r>
              <a:endParaRPr sz="8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407" name="Google Shape;407;p2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1213590"/>
              <a:ext cx="252332" cy="275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8" name="Google Shape;408;p2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584" y="642620"/>
              <a:ext cx="253456" cy="276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9" name="Google Shape;409;p24"/>
            <p:cNvSpPr/>
            <p:nvPr/>
          </p:nvSpPr>
          <p:spPr>
            <a:xfrm>
              <a:off x="450833" y="568368"/>
              <a:ext cx="2596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419" sz="1100" b="0" i="0" u="none" strike="noStrike" cap="none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ORANGE_LATAM</a:t>
              </a:r>
              <a:endParaRPr sz="11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410" name="Google Shape;410;p2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720" y="0"/>
              <a:ext cx="287354" cy="353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24"/>
            <p:cNvSpPr/>
            <p:nvPr/>
          </p:nvSpPr>
          <p:spPr>
            <a:xfrm>
              <a:off x="450834" y="61163"/>
              <a:ext cx="3825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419" sz="1100" b="0" i="0" u="none" strike="noStrike" cap="none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WWW.ORANGE-LA.COM</a:t>
              </a:r>
              <a:endParaRPr sz="8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cxnSp>
        <p:nvCxnSpPr>
          <p:cNvPr id="412" name="Google Shape;412;p24"/>
          <p:cNvCxnSpPr/>
          <p:nvPr/>
        </p:nvCxnSpPr>
        <p:spPr>
          <a:xfrm>
            <a:off x="2046563" y="2219831"/>
            <a:ext cx="21000" cy="1732200"/>
          </a:xfrm>
          <a:prstGeom prst="straightConnector1">
            <a:avLst/>
          </a:prstGeom>
          <a:noFill/>
          <a:ln w="28575" cap="flat" cmpd="sng">
            <a:solidFill>
              <a:srgbClr val="009CE1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5400000" rotWithShape="0">
              <a:srgbClr val="000000">
                <a:alpha val="40000"/>
              </a:srgbClr>
            </a:outerShdw>
          </a:effec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1828</TotalTime>
  <Words>2444</Words>
  <Application>Microsoft Office PowerPoint</Application>
  <PresentationFormat>Presentación en pantalla (16:9)</PresentationFormat>
  <Paragraphs>293</Paragraphs>
  <Slides>19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32" baseType="lpstr">
      <vt:lpstr>Helvetica Neue</vt:lpstr>
      <vt:lpstr>Montserrat</vt:lpstr>
      <vt:lpstr>Montserrat Medium</vt:lpstr>
      <vt:lpstr>Calibri</vt:lpstr>
      <vt:lpstr>Times</vt:lpstr>
      <vt:lpstr>Arial</vt:lpstr>
      <vt:lpstr>Montserrat SemiBold</vt:lpstr>
      <vt:lpstr>Poppins SemiBold</vt:lpstr>
      <vt:lpstr>Poppins</vt:lpstr>
      <vt:lpstr>DM Sans</vt:lpstr>
      <vt:lpstr>Merriweather</vt:lpstr>
      <vt:lpstr>Times New Roman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orange_tech</cp:lastModifiedBy>
  <cp:revision>9</cp:revision>
  <dcterms:modified xsi:type="dcterms:W3CDTF">2026-07-10T17:30:46Z</dcterms:modified>
</cp:coreProperties>
</file>